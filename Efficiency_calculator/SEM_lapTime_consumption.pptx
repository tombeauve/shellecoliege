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266" r:id="rId3"/>
    <p:sldId id="279" r:id="rId4"/>
    <p:sldId id="285" r:id="rId5"/>
    <p:sldId id="280" r:id="rId6"/>
    <p:sldId id="281" r:id="rId7"/>
    <p:sldId id="282" r:id="rId8"/>
    <p:sldId id="284" r:id="rId9"/>
    <p:sldId id="258" r:id="rId10"/>
    <p:sldId id="259" r:id="rId11"/>
    <p:sldId id="260" r:id="rId12"/>
    <p:sldId id="286" r:id="rId13"/>
    <p:sldId id="275" r:id="rId14"/>
    <p:sldId id="268" r:id="rId15"/>
    <p:sldId id="272" r:id="rId16"/>
    <p:sldId id="290" r:id="rId17"/>
    <p:sldId id="293" r:id="rId18"/>
    <p:sldId id="294" r:id="rId19"/>
    <p:sldId id="287" r:id="rId20"/>
    <p:sldId id="271" r:id="rId21"/>
    <p:sldId id="288" r:id="rId22"/>
    <p:sldId id="274" r:id="rId23"/>
    <p:sldId id="289" r:id="rId24"/>
    <p:sldId id="277" r:id="rId25"/>
    <p:sldId id="291" r:id="rId26"/>
    <p:sldId id="292" r:id="rId27"/>
    <p:sldId id="295" r:id="rId28"/>
    <p:sldId id="269" r:id="rId29"/>
    <p:sldId id="28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7F"/>
    <a:srgbClr val="F07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1560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A055B-0E81-4EEF-A36B-666997CD7E14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DE39F-EA5B-4DFB-A5BD-31A68196C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20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DE39F-EA5B-4DFB-A5BD-31A68196C2C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501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DE39F-EA5B-4DFB-A5BD-31A68196C2CE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933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457999"/>
          </a:xfrm>
        </p:spPr>
        <p:txBody>
          <a:bodyPr anchor="t"/>
          <a:lstStyle>
            <a:lvl1pPr algn="ctr">
              <a:defRPr sz="4000"/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79740"/>
            <a:ext cx="1202499" cy="365126"/>
          </a:xfrm>
        </p:spPr>
        <p:txBody>
          <a:bodyPr/>
          <a:lstStyle/>
          <a:p>
            <a:fld id="{A962E2B5-AD3A-452B-996C-1D06A125B710}" type="datetime1">
              <a:rPr lang="en-GB" smtClean="0"/>
              <a:t>14/10/2026</a:t>
            </a:fld>
            <a:endParaRPr lang="en-GB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6D58A7E-8FEB-F2E0-7970-E8D8E3C839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942962" cy="77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17C57C9-50B7-6213-075E-362E8D63D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0225" y="6479740"/>
            <a:ext cx="613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</a:defRPr>
            </a:lvl1pPr>
          </a:lstStyle>
          <a:p>
            <a:fld id="{46899FAB-5005-482A-88F2-FE97823A1A33}" type="slidenum">
              <a:rPr lang="en-GB" smtClean="0"/>
              <a:pPr/>
              <a:t>‹#›</a:t>
            </a:fld>
            <a:r>
              <a:rPr lang="en-GB" dirty="0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57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1F27-6830-3229-2978-322332456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7C9795-2643-EE23-BE59-AEA67E43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82A86-5FD6-7B0B-0A81-FF3A67EDE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0224" y="6479741"/>
            <a:ext cx="613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</a:defRPr>
            </a:lvl1pPr>
          </a:lstStyle>
          <a:p>
            <a:fld id="{46899FAB-5005-482A-88F2-FE97823A1A33}" type="slidenum">
              <a:rPr lang="en-GB" smtClean="0"/>
              <a:pPr/>
              <a:t>‹#›</a:t>
            </a:fld>
            <a:r>
              <a:rPr lang="en-GB" dirty="0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5CF8575-F86B-9771-E4B7-9D9DB15FE7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4810" y="1851545"/>
            <a:ext cx="4463180" cy="3816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89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5624186" cy="6810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812" y="140224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1" y="6479740"/>
            <a:ext cx="1202499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</a:defRPr>
            </a:lvl1pPr>
          </a:lstStyle>
          <a:p>
            <a:fld id="{30058C10-7476-49B5-8355-BBAFE5754F9E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0224" y="6479741"/>
            <a:ext cx="613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</a:defRPr>
            </a:lvl1pPr>
          </a:lstStyle>
          <a:p>
            <a:fld id="{46899FAB-5005-482A-88F2-FE97823A1A33}" type="slidenum">
              <a:rPr lang="en-GB" smtClean="0"/>
              <a:pPr/>
              <a:t>‹#›</a:t>
            </a:fld>
            <a:r>
              <a:rPr lang="en-GB" dirty="0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98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707F"/>
          </a:solidFill>
          <a:latin typeface="Segoe UI Symbol" panose="020B0502040204020203" pitchFamily="34" charset="0"/>
          <a:ea typeface="Segoe UI Symbol" panose="020B05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Segoe UI Symbol" panose="020B0502040204020203" pitchFamily="34" charset="0"/>
          <a:ea typeface="Segoe UI Symbol" panose="020B0502040204020203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 Symbol" panose="020B0502040204020203" pitchFamily="34" charset="0"/>
          <a:ea typeface="Segoe UI Symbol" panose="020B0502040204020203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 Symbol" panose="020B0502040204020203" pitchFamily="34" charset="0"/>
          <a:ea typeface="Segoe UI Symbol" panose="020B0502040204020203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>
              <a:lumMod val="50000"/>
            </a:schemeClr>
          </a:solidFill>
          <a:latin typeface="Segoe UI Symbol" panose="020B0502040204020203" pitchFamily="34" charset="0"/>
          <a:ea typeface="Segoe UI Symbol" panose="020B0502040204020203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 Symbol" panose="020B0502040204020203" pitchFamily="34" charset="0"/>
          <a:ea typeface="Segoe UI Symbol" panose="020B0502040204020203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8EE3F4-4B78-E328-E8A9-AA5DF5C24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708945"/>
            <a:ext cx="7772400" cy="706437"/>
          </a:xfrm>
        </p:spPr>
        <p:txBody>
          <a:bodyPr/>
          <a:lstStyle/>
          <a:p>
            <a:r>
              <a:rPr lang="fr-BE" sz="3000" noProof="0" dirty="0"/>
              <a:t>Shell Eco Marathon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EF79E-B58A-D218-C6AB-EDC1921F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7CC1-09C0-4CA6-A28C-A624AFD2E92A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B4424-CBBD-9CA7-F206-A426EEF84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58200" y="6479741"/>
            <a:ext cx="685800" cy="365125"/>
          </a:xfrm>
        </p:spPr>
        <p:txBody>
          <a:bodyPr/>
          <a:lstStyle/>
          <a:p>
            <a:fld id="{46899FAB-5005-482A-88F2-FE97823A1A33}" type="slidenum">
              <a:rPr lang="fr-BE" noProof="0" smtClean="0"/>
              <a:pPr/>
              <a:t>1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9151E2-0726-572B-B66B-D91865A57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040" y="4006182"/>
            <a:ext cx="3015681" cy="2442453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C57179A7-38F2-0549-0327-1776B61679C1}"/>
              </a:ext>
            </a:extLst>
          </p:cNvPr>
          <p:cNvSpPr txBox="1">
            <a:spLocks/>
          </p:cNvSpPr>
          <p:nvPr/>
        </p:nvSpPr>
        <p:spPr>
          <a:xfrm>
            <a:off x="685800" y="1415382"/>
            <a:ext cx="7772400" cy="23364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707F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j-cs"/>
              </a:defRPr>
            </a:lvl1pPr>
          </a:lstStyle>
          <a:p>
            <a:r>
              <a:rPr lang="fr-BE" noProof="0" dirty="0"/>
              <a:t>Calcul d’efficience </a:t>
            </a:r>
          </a:p>
          <a:p>
            <a:r>
              <a:rPr lang="fr-BE" noProof="0" dirty="0"/>
              <a:t>&amp; </a:t>
            </a:r>
          </a:p>
          <a:p>
            <a:r>
              <a:rPr lang="fr-BE" noProof="0" dirty="0"/>
              <a:t>Outils basiques pour directions de développement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534174-535C-DF3C-F46D-9C8766ACB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713" y="4161183"/>
            <a:ext cx="2873596" cy="22119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2B7059-38C2-05A4-7AEC-49499B62E5F8}"/>
              </a:ext>
            </a:extLst>
          </p:cNvPr>
          <p:cNvSpPr txBox="1"/>
          <p:nvPr/>
        </p:nvSpPr>
        <p:spPr>
          <a:xfrm>
            <a:off x="3936216" y="6533704"/>
            <a:ext cx="1271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Tom Beauve</a:t>
            </a:r>
          </a:p>
        </p:txBody>
      </p:sp>
    </p:spTree>
    <p:extLst>
      <p:ext uri="{BB962C8B-B14F-4D97-AF65-F5344CB8AC3E}">
        <p14:creationId xmlns:p14="http://schemas.microsoft.com/office/powerpoint/2010/main" val="2149653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17AA-12B0-B2A8-5C03-FFD618B5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EA55-65FC-0908-E193-A4A4A38F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 err="1"/>
              <a:t>Outline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A5E42-9678-898E-B414-5E855B1D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E4BD9-1240-D9C5-A9D9-0D049D56B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2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22C2CF-473C-209B-C15A-D6CDE4E23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9" y="1851545"/>
            <a:ext cx="7552026" cy="3816482"/>
          </a:xfrm>
        </p:spPr>
        <p:txBody>
          <a:bodyPr>
            <a:normAutofit/>
          </a:bodyPr>
          <a:lstStyle/>
          <a:p>
            <a:r>
              <a:rPr lang="fr-BE" sz="2800" noProof="0" dirty="0"/>
              <a:t>Pourquoi ?</a:t>
            </a:r>
          </a:p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How it works ?</a:t>
            </a:r>
            <a:r>
              <a:rPr lang="en-GB" sz="2800" dirty="0" err="1">
                <a:solidFill>
                  <a:schemeClr val="bg2">
                    <a:lumMod val="75000"/>
                  </a:schemeClr>
                </a:solidFill>
              </a:rPr>
              <a:t>Calculateur</a:t>
            </a: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 de consommation </a:t>
            </a: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Résultats </a:t>
            </a:r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rendement mot. non cst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(07/10/26)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Résultats rendement mot. cst (07/10/26) 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Calcul de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sensitivities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Mass vs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SCx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tradeoff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Conclusions : directions de développement</a:t>
            </a:r>
          </a:p>
          <a:p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6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B61A-241E-2A59-8C78-172416DFD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341704" cy="681036"/>
          </a:xfrm>
        </p:spPr>
        <p:txBody>
          <a:bodyPr/>
          <a:lstStyle/>
          <a:p>
            <a:r>
              <a:rPr lang="fr-BE" noProof="0" dirty="0"/>
              <a:t>Pourquoi modéliser la consommation ?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2D011-DCA9-6A96-DF26-2D945CB64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E3B01-CF44-97A1-5BA0-7211C90C3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3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5F3688-C50B-3E98-6569-14DCFF4B1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48" y="1261824"/>
            <a:ext cx="7979536" cy="45028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fr-BE" noProof="0" dirty="0"/>
              <a:t>Donne des infos sur la direction dans laquelle aller pour améliorer la voiture </a:t>
            </a:r>
          </a:p>
          <a:p>
            <a:pPr marL="1143000" lvl="1" indent="-457200"/>
            <a:r>
              <a:rPr lang="fr-BE" noProof="0" dirty="0"/>
              <a:t>Quelle amélioration aura le + gros impact ?</a:t>
            </a:r>
          </a:p>
          <a:p>
            <a:pPr marL="1600200" lvl="2" indent="-457200"/>
            <a:r>
              <a:rPr lang="fr-BE" noProof="0" dirty="0"/>
              <a:t>Doit-on prioriser la réduction de la masse, du Cx, des pertes ?</a:t>
            </a:r>
          </a:p>
          <a:p>
            <a:pPr marL="1143000" lvl="1" indent="-457200"/>
            <a:r>
              <a:rPr lang="fr-BE" noProof="0" dirty="0"/>
              <a:t>Cartes de </a:t>
            </a:r>
            <a:r>
              <a:rPr lang="fr-BE" noProof="0" dirty="0" err="1"/>
              <a:t>tradeoff</a:t>
            </a:r>
            <a:r>
              <a:rPr lang="fr-BE" noProof="0" dirty="0"/>
              <a:t> </a:t>
            </a:r>
            <a:r>
              <a:rPr lang="fr-BE" noProof="0" dirty="0" err="1"/>
              <a:t>SCx</a:t>
            </a:r>
            <a:r>
              <a:rPr lang="fr-BE" noProof="0" dirty="0"/>
              <a:t> vs m, …</a:t>
            </a:r>
          </a:p>
          <a:p>
            <a:pPr marL="1600200" lvl="2" indent="-457200"/>
            <a:r>
              <a:rPr lang="fr-BE" noProof="0" dirty="0"/>
              <a:t>Est-ce une bonne idée d’avoir une coque avec Cx faible mais + lourde ?</a:t>
            </a:r>
          </a:p>
          <a:p>
            <a:pPr marL="1143000" lvl="1" indent="-457200"/>
            <a:r>
              <a:rPr lang="fr-BE" noProof="0" dirty="0"/>
              <a:t>Déterminer le </a:t>
            </a:r>
            <a:r>
              <a:rPr lang="fr-BE" noProof="0" dirty="0" err="1"/>
              <a:t>gear</a:t>
            </a:r>
            <a:r>
              <a:rPr lang="fr-BE" noProof="0" dirty="0"/>
              <a:t> ratio optimal pour utiliser le moteur dans sa plage d’efficience max.</a:t>
            </a:r>
          </a:p>
          <a:p>
            <a:pPr marL="1143000" lvl="1" indent="-457200"/>
            <a:r>
              <a:rPr lang="fr-BE" dirty="0"/>
              <a:t>…</a:t>
            </a:r>
            <a:endParaRPr lang="fr-BE" noProof="0" dirty="0"/>
          </a:p>
          <a:p>
            <a:pPr marL="457200" indent="-457200">
              <a:buFont typeface="+mj-lt"/>
              <a:buAutoNum type="arabicParenR"/>
            </a:pPr>
            <a:r>
              <a:rPr lang="fr-BE" noProof="0" dirty="0"/>
              <a:t>Détermine la conduite optimale pour maximiser l’efficience </a:t>
            </a:r>
          </a:p>
        </p:txBody>
      </p:sp>
    </p:spTree>
    <p:extLst>
      <p:ext uri="{BB962C8B-B14F-4D97-AF65-F5344CB8AC3E}">
        <p14:creationId xmlns:p14="http://schemas.microsoft.com/office/powerpoint/2010/main" val="195394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7CD30-CD79-17F0-4C07-03E13461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FF68-25AB-4DBE-7395-87E7ADFE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 err="1"/>
              <a:t>Outline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FD1EAB-2690-45FD-160F-E6879DE9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DF398-62FF-BC85-70E9-493F31AD7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4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E1404-FEA5-0882-AA6A-D6551D1AC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9" y="1851545"/>
            <a:ext cx="7552026" cy="3816482"/>
          </a:xfrm>
        </p:spPr>
        <p:txBody>
          <a:bodyPr>
            <a:normAutofit/>
          </a:bodyPr>
          <a:lstStyle/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Pourquoi ?</a:t>
            </a:r>
          </a:p>
          <a:p>
            <a:r>
              <a:rPr lang="en-GB" sz="2800" dirty="0"/>
              <a:t>How it works ? </a:t>
            </a:r>
            <a:r>
              <a:rPr lang="en-GB" sz="2800" dirty="0" err="1"/>
              <a:t>Calculateur</a:t>
            </a:r>
            <a:r>
              <a:rPr lang="en-GB" sz="2800" dirty="0"/>
              <a:t> de consommation </a:t>
            </a: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Résultats </a:t>
            </a:r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rendement mot. non cst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(07/10/26)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Résultats rendement mot. cst (07/10/26) 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Calcul de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sensitivities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Mass vs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SCx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tradeoff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Conclusions : directions de développement</a:t>
            </a:r>
          </a:p>
          <a:p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3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FB10-5F5C-E5DF-FEAA-9587FC2D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732104" cy="681036"/>
          </a:xfrm>
        </p:spPr>
        <p:txBody>
          <a:bodyPr/>
          <a:lstStyle/>
          <a:p>
            <a:r>
              <a:rPr lang="en-GB" dirty="0" err="1"/>
              <a:t>Calcul</a:t>
            </a:r>
            <a:r>
              <a:rPr lang="en-GB" dirty="0"/>
              <a:t> de consommation sur 1 tour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730F1-9915-F5E2-1525-A01F6D43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89B29-7A2A-73AC-E1FA-AE87627D0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5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99DAA3-EC0B-264C-02C5-01CEB52D0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48" y="1215442"/>
            <a:ext cx="1956422" cy="520594"/>
          </a:xfrm>
        </p:spPr>
        <p:txBody>
          <a:bodyPr/>
          <a:lstStyle/>
          <a:p>
            <a:pPr>
              <a:buNone/>
            </a:pPr>
            <a:r>
              <a:rPr lang="en-GB" dirty="0"/>
              <a:t>Inputs = 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DCCF0B-6677-FF74-AAEC-8D4DB23F580C}"/>
              </a:ext>
            </a:extLst>
          </p:cNvPr>
          <p:cNvCxnSpPr>
            <a:cxnSpLocks/>
          </p:cNvCxnSpPr>
          <p:nvPr/>
        </p:nvCxnSpPr>
        <p:spPr>
          <a:xfrm flipH="1">
            <a:off x="2219739" y="1417983"/>
            <a:ext cx="11728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474F04-9270-9367-4C7C-9E73DC8AE805}"/>
              </a:ext>
            </a:extLst>
          </p:cNvPr>
          <p:cNvSpPr txBox="1"/>
          <p:nvPr/>
        </p:nvSpPr>
        <p:spPr>
          <a:xfrm>
            <a:off x="3595876" y="1027068"/>
            <a:ext cx="5241235" cy="111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 err="1"/>
              <a:t>Infos</a:t>
            </a:r>
            <a:r>
              <a:rPr lang="en-GB" dirty="0"/>
              <a:t> voiture (masse, </a:t>
            </a:r>
            <a:r>
              <a:rPr lang="fr-BE" dirty="0"/>
              <a:t>η, moteur,…)</a:t>
            </a:r>
            <a:r>
              <a:rPr lang="en-GB" dirty="0"/>
              <a:t> &amp; </a:t>
            </a:r>
            <a:r>
              <a:rPr lang="en-GB" dirty="0" err="1"/>
              <a:t>tracé</a:t>
            </a:r>
            <a:endParaRPr lang="en-GB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BE" dirty="0"/>
              <a:t>Profil de </a:t>
            </a:r>
            <a:r>
              <a:rPr lang="fr-BE" b="1" u="sng" dirty="0"/>
              <a:t>vitesse</a:t>
            </a:r>
            <a:r>
              <a:rPr lang="fr-BE" dirty="0"/>
              <a:t> ou force trac. le long du tour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2E7D26-537D-E404-42DE-C51F154D930A}"/>
              </a:ext>
            </a:extLst>
          </p:cNvPr>
          <p:cNvCxnSpPr>
            <a:cxnSpLocks/>
          </p:cNvCxnSpPr>
          <p:nvPr/>
        </p:nvCxnSpPr>
        <p:spPr>
          <a:xfrm flipH="1" flipV="1">
            <a:off x="2219739" y="1551645"/>
            <a:ext cx="1278835" cy="396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149A53-43E2-D5EF-3A6C-F7715C15E672}"/>
              </a:ext>
            </a:extLst>
          </p:cNvPr>
          <p:cNvSpPr txBox="1"/>
          <p:nvPr/>
        </p:nvSpPr>
        <p:spPr>
          <a:xfrm>
            <a:off x="3750367" y="2165866"/>
            <a:ext cx="50689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/>
              <a:t>permet de manière directe de connaitre consommation en chaque point</a:t>
            </a:r>
          </a:p>
          <a:p>
            <a:endParaRPr lang="fr-BE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/>
              <a:t>+ facile d’avoir un capteur de vitesse / </a:t>
            </a:r>
            <a:r>
              <a:rPr lang="fr-BE" sz="1600" dirty="0" err="1"/>
              <a:t>accéléro</a:t>
            </a:r>
            <a:r>
              <a:rPr lang="fr-BE" sz="1600" dirty="0"/>
              <a:t>. pour mesures </a:t>
            </a:r>
            <a:r>
              <a:rPr lang="fr-BE" sz="1600" dirty="0" err="1"/>
              <a:t>exp</a:t>
            </a:r>
            <a:r>
              <a:rPr lang="fr-BE" sz="1600" dirty="0"/>
              <a:t>. qu’un capteur de F (?)</a:t>
            </a:r>
          </a:p>
          <a:p>
            <a:endParaRPr lang="fr-BE" sz="16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A4F26F-05C4-311C-4307-1AE173D8FCA9}"/>
              </a:ext>
            </a:extLst>
          </p:cNvPr>
          <p:cNvCxnSpPr>
            <a:cxnSpLocks/>
          </p:cNvCxnSpPr>
          <p:nvPr/>
        </p:nvCxnSpPr>
        <p:spPr>
          <a:xfrm>
            <a:off x="6298096" y="3529253"/>
            <a:ext cx="0" cy="431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1F0E11-E466-D12F-6242-F6961D44F8A8}"/>
              </a:ext>
            </a:extLst>
          </p:cNvPr>
          <p:cNvSpPr txBox="1"/>
          <p:nvPr/>
        </p:nvSpPr>
        <p:spPr>
          <a:xfrm>
            <a:off x="4134680" y="4010233"/>
            <a:ext cx="406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Profil de </a:t>
            </a:r>
            <a:r>
              <a:rPr lang="fr-BE" b="1" dirty="0"/>
              <a:t>vitesse </a:t>
            </a:r>
            <a:r>
              <a:rPr lang="fr-BE" dirty="0"/>
              <a:t>: v = </a:t>
            </a:r>
            <a:r>
              <a:rPr lang="fr-BE" u="sng" dirty="0"/>
              <a:t>v(</a:t>
            </a:r>
            <a:r>
              <a:rPr lang="fr-BE" b="1" u="sng" dirty="0"/>
              <a:t>x</a:t>
            </a:r>
            <a:r>
              <a:rPr lang="fr-BE" u="sng" dirty="0"/>
              <a:t>)</a:t>
            </a:r>
            <a:r>
              <a:rPr lang="fr-BE" dirty="0"/>
              <a:t> ou v = v(</a:t>
            </a:r>
            <a:r>
              <a:rPr lang="fr-BE" b="1" dirty="0"/>
              <a:t>t</a:t>
            </a:r>
            <a:r>
              <a:rPr lang="fr-BE" dirty="0"/>
              <a:t>) 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87B076-1451-E67B-70A1-DD88A0328E61}"/>
              </a:ext>
            </a:extLst>
          </p:cNvPr>
          <p:cNvSpPr txBox="1"/>
          <p:nvPr/>
        </p:nvSpPr>
        <p:spPr>
          <a:xfrm>
            <a:off x="4134679" y="4379565"/>
            <a:ext cx="44527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/>
              <a:t>On connait le profil altimétrique z(</a:t>
            </a:r>
            <a:r>
              <a:rPr lang="fr-BE" sz="1600" b="1" u="sng" dirty="0"/>
              <a:t>x</a:t>
            </a:r>
            <a:r>
              <a:rPr lang="fr-BE" sz="1600" dirty="0"/>
              <a:t>), les positions des virages, pas z(t)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/>
              <a:t>On connait la distance à effectuer, le temps du tour peut varier selon la conduite…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758A37-DD37-3F5B-F726-0F68C780E8BA}"/>
              </a:ext>
            </a:extLst>
          </p:cNvPr>
          <p:cNvSpPr txBox="1"/>
          <p:nvPr/>
        </p:nvSpPr>
        <p:spPr>
          <a:xfrm>
            <a:off x="437327" y="3483598"/>
            <a:ext cx="2862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/>
              <a:t>Choix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(</a:t>
            </a:r>
            <a:r>
              <a:rPr lang="en-GB" dirty="0" err="1"/>
              <a:t>ayant</a:t>
            </a:r>
            <a:r>
              <a:rPr lang="en-GB" dirty="0"/>
              <a:t> un impact sur </a:t>
            </a:r>
            <a:r>
              <a:rPr lang="en-GB" dirty="0" err="1"/>
              <a:t>l’algo</a:t>
            </a:r>
            <a:r>
              <a:rPr lang="en-GB" dirty="0"/>
              <a:t> et p-ê les </a:t>
            </a:r>
            <a:r>
              <a:rPr lang="en-GB" dirty="0" err="1"/>
              <a:t>résultats</a:t>
            </a:r>
            <a:r>
              <a:rPr lang="en-GB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198423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A8344-5F3D-D229-7BD2-E3D949B5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1BB6-72F9-D826-15C3-99744413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732104" cy="681036"/>
          </a:xfrm>
        </p:spPr>
        <p:txBody>
          <a:bodyPr/>
          <a:lstStyle/>
          <a:p>
            <a:r>
              <a:rPr lang="en-GB" dirty="0" err="1"/>
              <a:t>Calcul</a:t>
            </a:r>
            <a:r>
              <a:rPr lang="en-GB" dirty="0"/>
              <a:t> de consommation sur 1 tour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C56EA-F1A8-7D3B-D014-4C099A38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5E6EE-ADFB-B081-E307-5483D0C96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6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4734171-6B7E-E36A-0AA5-E0DBB83AC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221" y="1275076"/>
                <a:ext cx="6909558" cy="1388611"/>
              </a:xfrm>
            </p:spPr>
            <p:txBody>
              <a:bodyPr>
                <a:normAutofit fontScale="85000" lnSpcReduction="10000"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𝑒𝑙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  <m:t>𝑡𝑜𝑡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  <m:t>𝑡𝑜𝑡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BE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fr-BE" b="0" i="1" smtClean="0">
                                          <a:latin typeface="Cambria Math" panose="02040503050406030204" pitchFamily="18" charset="0"/>
                                        </a:rPr>
                                        <m:t>𝑚𝑜𝑡</m:t>
                                      </m:r>
                                    </m:sub>
                                  </m:sSub>
                                  <m: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B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dirty="0"/>
              </a:p>
              <a:p>
                <a:pPr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𝑎𝑒𝑟𝑜</m:t>
                          </m:r>
                        </m:sub>
                      </m:sSub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𝑔𝑟𝑎𝑣</m:t>
                          </m:r>
                        </m:sub>
                      </m:sSub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4734171-6B7E-E36A-0AA5-E0DBB83AC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221" y="1275076"/>
                <a:ext cx="6909558" cy="13886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51EE986-A867-6022-28DB-D19A81852DB3}"/>
              </a:ext>
            </a:extLst>
          </p:cNvPr>
          <p:cNvSpPr txBox="1"/>
          <p:nvPr/>
        </p:nvSpPr>
        <p:spPr>
          <a:xfrm>
            <a:off x="2302565" y="681037"/>
            <a:ext cx="4829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Inputs : </a:t>
            </a:r>
            <a:r>
              <a:rPr lang="en-GB" sz="2000" dirty="0" err="1"/>
              <a:t>infos</a:t>
            </a:r>
            <a:r>
              <a:rPr lang="en-GB" sz="2000" dirty="0"/>
              <a:t> voiture / </a:t>
            </a:r>
            <a:r>
              <a:rPr lang="en-GB" sz="2000" dirty="0" err="1"/>
              <a:t>tracé</a:t>
            </a:r>
            <a:r>
              <a:rPr lang="en-GB" sz="2000" dirty="0"/>
              <a:t> &amp; </a:t>
            </a:r>
            <a:r>
              <a:rPr lang="en-GB" sz="2000" b="1" dirty="0" err="1"/>
              <a:t>profil</a:t>
            </a:r>
            <a:r>
              <a:rPr lang="en-GB" sz="2000" b="1" dirty="0"/>
              <a:t> v(x)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9041C2-CF0D-EFEE-87F2-442ADB71FE7F}"/>
                  </a:ext>
                </a:extLst>
              </p:cNvPr>
              <p:cNvSpPr txBox="1"/>
              <p:nvPr/>
            </p:nvSpPr>
            <p:spPr>
              <a:xfrm>
                <a:off x="2302564" y="2589063"/>
                <a:ext cx="45388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 err="1"/>
                  <a:t>Intégration</a:t>
                </a:r>
                <a:r>
                  <a:rPr lang="en-GB" sz="2000" dirty="0"/>
                  <a:t> : </a:t>
                </a:r>
                <a:r>
                  <a:rPr lang="en-GB" sz="2000" dirty="0" err="1"/>
                  <a:t>méthode</a:t>
                </a:r>
                <a:r>
                  <a:rPr lang="en-GB" sz="2000" dirty="0"/>
                  <a:t> de Simpson</a:t>
                </a:r>
              </a:p>
              <a:p>
                <a:pPr algn="ctr"/>
                <a:r>
                  <a:rPr lang="en-GB" sz="1600" dirty="0"/>
                  <a:t>NB : </a:t>
                </a:r>
                <a:r>
                  <a:rPr lang="en-GB" sz="1600" dirty="0" err="1"/>
                  <a:t>exacte</a:t>
                </a:r>
                <a:r>
                  <a:rPr lang="en-GB" sz="1600" dirty="0"/>
                  <a:t> </a:t>
                </a:r>
                <a:r>
                  <a:rPr lang="en-GB" sz="1600" dirty="0" err="1"/>
                  <a:t>si</a:t>
                </a: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fr-BE" sz="160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fr-BE" sz="16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sz="1600" i="1" smtClean="0">
                        <a:latin typeface="Cambria Math" panose="02040503050406030204" pitchFamily="18" charset="0"/>
                      </a:rPr>
                      <m:t>𝑐𝑡𝑒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9041C2-CF0D-EFEE-87F2-442ADB71F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564" y="2589063"/>
                <a:ext cx="4538869" cy="646331"/>
              </a:xfrm>
              <a:prstGeom prst="rect">
                <a:avLst/>
              </a:prstGeom>
              <a:blipFill>
                <a:blip r:embed="rId3"/>
                <a:stretch>
                  <a:fillRect t="-4717" b="-10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CF01D9-5E1B-0C07-E3F7-7114AC51C54D}"/>
                  </a:ext>
                </a:extLst>
              </p:cNvPr>
              <p:cNvSpPr txBox="1"/>
              <p:nvPr/>
            </p:nvSpPr>
            <p:spPr>
              <a:xfrm>
                <a:off x="2244585" y="3315216"/>
                <a:ext cx="4654826" cy="837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nary>
                      <m:d>
                        <m:dPr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+1/2</m:t>
                              </m:r>
                            </m:sub>
                          </m:sSub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CF01D9-5E1B-0C07-E3F7-7114AC51C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585" y="3315216"/>
                <a:ext cx="4654826" cy="837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BAEB9A0-38BE-BCAB-0FAD-2E05F00CDE8F}"/>
              </a:ext>
            </a:extLst>
          </p:cNvPr>
          <p:cNvSpPr txBox="1"/>
          <p:nvPr/>
        </p:nvSpPr>
        <p:spPr>
          <a:xfrm>
            <a:off x="1674742" y="4633995"/>
            <a:ext cx="5393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fr-BE" sz="24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lapConsumption_postProcess</a:t>
            </a:r>
            <a:endParaRPr lang="fr-BE" sz="2400" noProof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1CC44B7-8B43-C1B3-313E-5978E3DCC226}"/>
                  </a:ext>
                </a:extLst>
              </p:cNvPr>
              <p:cNvSpPr txBox="1"/>
              <p:nvPr/>
            </p:nvSpPr>
            <p:spPr>
              <a:xfrm>
                <a:off x="1424609" y="5376719"/>
                <a:ext cx="5643770" cy="1212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fr-BE" dirty="0"/>
                  <a:t>Outputs :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B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BE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r>
                          <a:rPr lang="fr-BE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BE" i="1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fr-BE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fr-BE" dirty="0"/>
                  <a:t> km/kWh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fr-BE" dirty="0"/>
                  <a:t>Breakdown du </a:t>
                </a:r>
                <a:r>
                  <a:rPr lang="fr-BE" b="1" dirty="0"/>
                  <a:t>travail </a:t>
                </a:r>
                <a:r>
                  <a:rPr lang="fr-BE" dirty="0"/>
                  <a:t>effectué par les diff. sources (</a:t>
                </a:r>
                <a:r>
                  <a:rPr lang="fr-BE" dirty="0" err="1"/>
                  <a:t>grav</a:t>
                </a:r>
                <a:r>
                  <a:rPr lang="fr-BE" b="1" dirty="0"/>
                  <a:t>(=0)</a:t>
                </a:r>
                <a:r>
                  <a:rPr lang="fr-BE" dirty="0"/>
                  <a:t>, </a:t>
                </a:r>
                <a:r>
                  <a:rPr lang="fr-BE" dirty="0" err="1"/>
                  <a:t>accel</a:t>
                </a:r>
                <a:r>
                  <a:rPr lang="fr-BE" b="1" dirty="0"/>
                  <a:t>(=0)</a:t>
                </a:r>
                <a:r>
                  <a:rPr lang="fr-BE" dirty="0"/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1CC44B7-8B43-C1B3-313E-5978E3DCC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609" y="5376719"/>
                <a:ext cx="5643770" cy="1212511"/>
              </a:xfrm>
              <a:prstGeom prst="rect">
                <a:avLst/>
              </a:prstGeom>
              <a:blipFill>
                <a:blip r:embed="rId5"/>
                <a:stretch>
                  <a:fillRect t="-2010" b="-70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59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4C200-3FED-B494-29EB-C6647AE54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126E-3746-05BA-7432-FAA4ECA1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732104" cy="681036"/>
          </a:xfrm>
        </p:spPr>
        <p:txBody>
          <a:bodyPr/>
          <a:lstStyle/>
          <a:p>
            <a:r>
              <a:rPr lang="en-GB" dirty="0" err="1"/>
              <a:t>Optimiseur</a:t>
            </a:r>
            <a:r>
              <a:rPr lang="en-GB" dirty="0"/>
              <a:t> de </a:t>
            </a:r>
            <a:r>
              <a:rPr lang="en-GB" dirty="0" err="1"/>
              <a:t>conduite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AD3779-2E82-9FFB-D49E-DD419B8D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55338-92B5-A277-FD0C-483B0C67F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7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91791D4-FF04-1499-F34E-977ECEBFF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2046" y="709069"/>
                <a:ext cx="8300772" cy="352803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But : </a:t>
                </a:r>
                <a:r>
                  <a:rPr lang="en-GB" sz="2000" dirty="0" err="1">
                    <a:solidFill>
                      <a:srgbClr val="C00000"/>
                    </a:solidFill>
                  </a:rPr>
                  <a:t>déterminer</a:t>
                </a:r>
                <a:r>
                  <a:rPr lang="en-GB" sz="2000" dirty="0">
                    <a:solidFill>
                      <a:srgbClr val="C00000"/>
                    </a:solidFill>
                  </a:rPr>
                  <a:t> la consommation </a:t>
                </a:r>
                <a:r>
                  <a:rPr lang="en-GB" sz="2000" dirty="0" err="1">
                    <a:solidFill>
                      <a:srgbClr val="C00000"/>
                    </a:solidFill>
                  </a:rPr>
                  <a:t>réelle</a:t>
                </a:r>
                <a:r>
                  <a:rPr lang="en-GB" sz="2000" dirty="0">
                    <a:solidFill>
                      <a:srgbClr val="C00000"/>
                    </a:solidFill>
                  </a:rPr>
                  <a:t> </a:t>
                </a:r>
                <a:r>
                  <a:rPr lang="en-GB" sz="2000" b="1" dirty="0" err="1">
                    <a:solidFill>
                      <a:srgbClr val="C00000"/>
                    </a:solidFill>
                  </a:rPr>
                  <a:t>optimale</a:t>
                </a:r>
                <a:r>
                  <a:rPr lang="en-GB" sz="2000" dirty="0">
                    <a:solidFill>
                      <a:srgbClr val="C00000"/>
                    </a:solidFill>
                  </a:rPr>
                  <a:t> </a:t>
                </a:r>
                <a:r>
                  <a:rPr lang="en-GB" sz="2000" dirty="0" err="1">
                    <a:solidFill>
                      <a:srgbClr val="C00000"/>
                    </a:solidFill>
                  </a:rPr>
                  <a:t>d’une</a:t>
                </a:r>
                <a:r>
                  <a:rPr lang="en-GB" sz="2000" dirty="0">
                    <a:solidFill>
                      <a:srgbClr val="C00000"/>
                    </a:solidFill>
                  </a:rPr>
                  <a:t> </a:t>
                </a:r>
                <a:r>
                  <a:rPr lang="en-GB" sz="2000" dirty="0" err="1">
                    <a:solidFill>
                      <a:srgbClr val="C00000"/>
                    </a:solidFill>
                  </a:rPr>
                  <a:t>spécification</a:t>
                </a:r>
                <a:r>
                  <a:rPr lang="en-GB" sz="2000" dirty="0">
                    <a:solidFill>
                      <a:srgbClr val="C00000"/>
                    </a:solidFill>
                  </a:rPr>
                  <a:t> de voiture (</a:t>
                </a:r>
                <a:r>
                  <a:rPr lang="en-GB" sz="2000" b="1" dirty="0" err="1">
                    <a:solidFill>
                      <a:srgbClr val="C00000"/>
                    </a:solidFill>
                  </a:rPr>
                  <a:t>indép</a:t>
                </a:r>
                <a:r>
                  <a:rPr lang="en-GB" sz="2000" b="1" dirty="0">
                    <a:solidFill>
                      <a:srgbClr val="C00000"/>
                    </a:solidFill>
                  </a:rPr>
                  <a:t>. d’un </a:t>
                </a:r>
                <a:r>
                  <a:rPr lang="en-GB" sz="2000" b="1" dirty="0" err="1">
                    <a:solidFill>
                      <a:srgbClr val="C00000"/>
                    </a:solidFill>
                  </a:rPr>
                  <a:t>profil</a:t>
                </a:r>
                <a:r>
                  <a:rPr lang="en-GB" sz="2000" b="1" dirty="0">
                    <a:solidFill>
                      <a:srgbClr val="C00000"/>
                    </a:solidFill>
                  </a:rPr>
                  <a:t> de </a:t>
                </a:r>
                <a:r>
                  <a:rPr lang="en-GB" sz="2000" b="1" dirty="0" err="1">
                    <a:solidFill>
                      <a:srgbClr val="C00000"/>
                    </a:solidFill>
                  </a:rPr>
                  <a:t>vitesse</a:t>
                </a:r>
                <a:r>
                  <a:rPr lang="en-GB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GB" sz="2000" b="1" dirty="0" err="1">
                    <a:solidFill>
                      <a:srgbClr val="C00000"/>
                    </a:solidFill>
                  </a:rPr>
                  <a:t>prédéfini</a:t>
                </a:r>
                <a:r>
                  <a:rPr lang="en-GB" sz="2000" dirty="0">
                    <a:solidFill>
                      <a:srgbClr val="C00000"/>
                    </a:solidFill>
                  </a:rPr>
                  <a:t>) =&gt; </a:t>
                </a:r>
                <a:r>
                  <a:rPr lang="en-GB" sz="2000" b="1" dirty="0" err="1">
                    <a:solidFill>
                      <a:srgbClr val="C00000"/>
                    </a:solidFill>
                  </a:rPr>
                  <a:t>comparaison</a:t>
                </a:r>
                <a:r>
                  <a:rPr lang="en-GB" sz="2000" b="1" dirty="0">
                    <a:solidFill>
                      <a:srgbClr val="C00000"/>
                    </a:solidFill>
                  </a:rPr>
                  <a:t> possible</a:t>
                </a:r>
              </a:p>
              <a:p>
                <a:r>
                  <a:rPr lang="en-GB" sz="2000" dirty="0"/>
                  <a:t>Variable </a:t>
                </a:r>
                <a:r>
                  <a:rPr lang="en-GB" sz="2000" dirty="0" err="1"/>
                  <a:t>d’optimisation</a:t>
                </a:r>
                <a:r>
                  <a:rPr lang="en-GB" sz="2000" dirty="0"/>
                  <a:t> : </a:t>
                </a:r>
                <a:r>
                  <a:rPr lang="en-GB" sz="2000" dirty="0" err="1"/>
                  <a:t>profil</a:t>
                </a:r>
                <a:r>
                  <a:rPr lang="en-GB" sz="2000" dirty="0"/>
                  <a:t> de </a:t>
                </a:r>
                <a:r>
                  <a:rPr lang="en-GB" sz="2000" b="1" dirty="0"/>
                  <a:t>Force trac</a:t>
                </a:r>
                <a:r>
                  <a:rPr lang="en-GB" sz="2000" dirty="0"/>
                  <a:t>. F(x)</a:t>
                </a:r>
              </a:p>
              <a:p>
                <a:r>
                  <a:rPr lang="en-GB" sz="2000" dirty="0" err="1"/>
                  <a:t>Contraintes</a:t>
                </a:r>
                <a:r>
                  <a:rPr lang="en-GB" sz="2000" dirty="0"/>
                  <a:t> 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BE" sz="16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fr-BE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BE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BE" sz="1600" dirty="0"/>
                  <a:t>, 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fr-BE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BE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fr-BE" sz="16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fr-BE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BE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BE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fr-BE" sz="16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fr-BE" sz="16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B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BE" sz="1600" i="1">
                            <a:latin typeface="Cambria Math" panose="02040503050406030204" pitchFamily="18" charset="0"/>
                          </a:rPr>
                          <m:t>𝑡𝑟𝑎𝑐</m:t>
                        </m:r>
                      </m:sub>
                    </m:sSub>
                    <m:r>
                      <a:rPr lang="fr-BE" sz="16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fr-B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BE" sz="1600" i="1">
                            <a:latin typeface="Cambria Math" panose="02040503050406030204" pitchFamily="18" charset="0"/>
                          </a:rPr>
                          <m:t>𝑡𝑟𝑎𝑐</m:t>
                        </m:r>
                        <m:r>
                          <a:rPr lang="fr-BE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BE" sz="1600" i="1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fr-BE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BE" sz="1600" i="1">
                            <a:latin typeface="Cambria Math" panose="02040503050406030204" pitchFamily="18" charset="0"/>
                          </a:rPr>
                          <m:t>𝑚𝑜𝑡</m:t>
                        </m:r>
                      </m:sub>
                    </m:sSub>
                  </m:oMath>
                </a14:m>
                <a:endParaRPr lang="fr-BE" sz="1600" dirty="0"/>
              </a:p>
              <a:p>
                <a:r>
                  <a:rPr lang="fr-BE" sz="2000" dirty="0"/>
                  <a:t>F(x) -&gt; v(x)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000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BE" sz="2000" b="0" i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ctrlPr>
                          <a:rPr lang="fr-BE" sz="2000" b="0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BE" sz="2000" b="0" i="0" dirty="0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fr-BE" sz="2000" b="0" i="0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BE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BE" sz="2000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0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BE" sz="2000" b="0" i="0" dirty="0" smtClean="0">
                            <a:latin typeface="Cambria Math" panose="02040503050406030204" pitchFamily="18" charset="0"/>
                          </a:rPr>
                          <m:t>𝑡𝑟𝑎𝑐</m:t>
                        </m:r>
                      </m:sub>
                    </m:sSub>
                    <m:r>
                      <a:rPr lang="fr-BE" sz="2000" b="0" i="0" dirty="0" smtClean="0">
                        <a:latin typeface="Cambria Math" panose="02040503050406030204" pitchFamily="18" charset="0"/>
                      </a:rPr>
                      <m:t>–</m:t>
                    </m:r>
                    <m:sSub>
                      <m:sSubPr>
                        <m:ctrlPr>
                          <a:rPr lang="fr-BE" sz="2000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0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BE" sz="2000" b="0" i="0" dirty="0" smtClean="0"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endParaRPr lang="fr-BE" sz="2000" dirty="0"/>
              </a:p>
              <a:p>
                <a:r>
                  <a:rPr lang="fr-BE" sz="2000" dirty="0"/>
                  <a:t>v(x) -&gt; </a:t>
                </a:r>
                <a:r>
                  <a:rPr lang="fr-BE" sz="17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lapConsumption_postProcess</a:t>
                </a:r>
                <a:r>
                  <a:rPr lang="fr-BE" sz="17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fr-BE" sz="2000" dirty="0">
                    <a:latin typeface="+mj-lt"/>
                    <a:ea typeface="Cascadia Code" panose="020B0609020000020004" pitchFamily="49" charset="0"/>
                    <a:cs typeface="Cascadia Code" panose="020B0609020000020004" pitchFamily="49" charset="0"/>
                  </a:rPr>
                  <a:t>-&gt; consommation</a:t>
                </a:r>
              </a:p>
              <a:p>
                <a:r>
                  <a:rPr lang="fr-BE" sz="2000" dirty="0"/>
                  <a:t>Pénalisation possible à ajouter : éviter les zigzag (</a:t>
                </a:r>
                <a:r>
                  <a:rPr lang="fr-BE" sz="2000" dirty="0" err="1"/>
                  <a:t>jitter</a:t>
                </a:r>
                <a:r>
                  <a:rPr lang="fr-BE" sz="2000" dirty="0"/>
                  <a:t>) dans profil de </a:t>
                </a:r>
                <a:r>
                  <a:rPr lang="fr-BE" sz="2000" dirty="0" err="1"/>
                  <a:t>F_trac</a:t>
                </a:r>
                <a:endParaRPr lang="fr-BE" sz="2000" dirty="0"/>
              </a:p>
              <a:p>
                <a:pPr lvl="1"/>
                <a:r>
                  <a:rPr lang="fr-BE" sz="1600" dirty="0"/>
                  <a:t>(Attention ne pas atténuer des zigzag physiquement optimaux (dent de scie)</a:t>
                </a:r>
                <a:endParaRPr lang="fr-BE" sz="2000" dirty="0">
                  <a:latin typeface="+mj-lt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91791D4-FF04-1499-F34E-977ECEBFF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2046" y="709069"/>
                <a:ext cx="8300772" cy="3528032"/>
              </a:xfrm>
              <a:blipFill>
                <a:blip r:embed="rId2"/>
                <a:stretch>
                  <a:fillRect l="-735" t="-2591" r="-735" b="-8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EE567B10-69FA-5165-E7A1-61CC2FBB2A11}"/>
              </a:ext>
            </a:extLst>
          </p:cNvPr>
          <p:cNvGrpSpPr/>
          <p:nvPr/>
        </p:nvGrpSpPr>
        <p:grpSpPr>
          <a:xfrm>
            <a:off x="667072" y="4334435"/>
            <a:ext cx="7950720" cy="2327868"/>
            <a:chOff x="558044" y="840393"/>
            <a:chExt cx="7950720" cy="232786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07EBF1-D4D6-2AD7-C800-39B01CEE01C5}"/>
                </a:ext>
              </a:extLst>
            </p:cNvPr>
            <p:cNvGrpSpPr/>
            <p:nvPr/>
          </p:nvGrpSpPr>
          <p:grpSpPr>
            <a:xfrm>
              <a:off x="558044" y="1400046"/>
              <a:ext cx="2704121" cy="1176223"/>
              <a:chOff x="1156048" y="4978796"/>
              <a:chExt cx="2704121" cy="1176223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89B42AC-42E5-8CD3-57EC-3612B53F74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1988" y="5152031"/>
                <a:ext cx="0" cy="7951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12CC052-CA2A-7B04-1A56-08A0FB2271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1988" y="5947162"/>
                <a:ext cx="217335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D3E5A34-6608-34B5-D372-542FB53F0CCF}"/>
                  </a:ext>
                </a:extLst>
              </p:cNvPr>
              <p:cNvSpPr/>
              <p:nvPr/>
            </p:nvSpPr>
            <p:spPr>
              <a:xfrm>
                <a:off x="1459127" y="5923971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436FE1F-BDC6-129B-DF1D-4735F799845D}"/>
                  </a:ext>
                </a:extLst>
              </p:cNvPr>
              <p:cNvSpPr/>
              <p:nvPr/>
            </p:nvSpPr>
            <p:spPr>
              <a:xfrm>
                <a:off x="1680107" y="5832531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AF933B4-5D3C-4D24-772F-34B6E77FB0B2}"/>
                  </a:ext>
                </a:extLst>
              </p:cNvPr>
              <p:cNvSpPr/>
              <p:nvPr/>
            </p:nvSpPr>
            <p:spPr>
              <a:xfrm>
                <a:off x="1971572" y="5735376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B5ED3D9-E13A-B2BF-EA5D-97CFED098094}"/>
                  </a:ext>
                </a:extLst>
              </p:cNvPr>
              <p:cNvSpPr/>
              <p:nvPr/>
            </p:nvSpPr>
            <p:spPr>
              <a:xfrm>
                <a:off x="2236367" y="5643936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2FCA614-E6C0-93C4-2773-785B78C850FA}"/>
                  </a:ext>
                </a:extLst>
              </p:cNvPr>
              <p:cNvSpPr/>
              <p:nvPr/>
            </p:nvSpPr>
            <p:spPr>
              <a:xfrm>
                <a:off x="2514435" y="5617926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F958FEB-C1AC-59C9-D796-E96B62A7C273}"/>
                  </a:ext>
                </a:extLst>
              </p:cNvPr>
              <p:cNvSpPr/>
              <p:nvPr/>
            </p:nvSpPr>
            <p:spPr>
              <a:xfrm>
                <a:off x="2743089" y="5584382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333BAA5-C978-6D95-894F-21E3DBA74EC8}"/>
                  </a:ext>
                </a:extLst>
              </p:cNvPr>
              <p:cNvSpPr/>
              <p:nvPr/>
            </p:nvSpPr>
            <p:spPr>
              <a:xfrm flipV="1">
                <a:off x="3425454" y="5887650"/>
                <a:ext cx="58612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280D5AF-AC3A-1457-91D6-5713E582672F}"/>
                  </a:ext>
                </a:extLst>
              </p:cNvPr>
              <p:cNvSpPr/>
              <p:nvPr/>
            </p:nvSpPr>
            <p:spPr>
              <a:xfrm>
                <a:off x="2973248" y="5572787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E484548-4E12-5A4B-9EAE-B7C0B2B002E0}"/>
                  </a:ext>
                </a:extLst>
              </p:cNvPr>
              <p:cNvSpPr/>
              <p:nvPr/>
            </p:nvSpPr>
            <p:spPr>
              <a:xfrm>
                <a:off x="3218685" y="5733554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931F36-D7F4-A985-76DC-DF516B9C0978}"/>
                  </a:ext>
                </a:extLst>
              </p:cNvPr>
              <p:cNvSpPr txBox="1"/>
              <p:nvPr/>
            </p:nvSpPr>
            <p:spPr>
              <a:xfrm>
                <a:off x="3569705" y="5785687"/>
                <a:ext cx="2904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BE" dirty="0"/>
                  <a:t>x</a:t>
                </a:r>
                <a:endParaRPr lang="fr-BE" noProof="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3A9AA0-FB87-5272-BDFC-1557334E810B}"/>
                  </a:ext>
                </a:extLst>
              </p:cNvPr>
              <p:cNvSpPr txBox="1"/>
              <p:nvPr/>
            </p:nvSpPr>
            <p:spPr>
              <a:xfrm>
                <a:off x="1156048" y="4978796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BE" b="1" noProof="0" dirty="0"/>
                  <a:t>F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F9D1B4F2-1D0F-2E51-0A45-9517916F5C55}"/>
                  </a:ext>
                </a:extLst>
              </p:cNvPr>
              <p:cNvCxnSpPr>
                <a:stCxn id="44" idx="2"/>
                <a:endCxn id="47" idx="3"/>
              </p:cNvCxnSpPr>
              <p:nvPr/>
            </p:nvCxnSpPr>
            <p:spPr>
              <a:xfrm flipV="1">
                <a:off x="1459127" y="5683526"/>
                <a:ext cx="783935" cy="2636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78140EF-FE45-8A84-9FE6-B8745DB98200}"/>
                  </a:ext>
                </a:extLst>
              </p:cNvPr>
              <p:cNvCxnSpPr>
                <a:cxnSpLocks/>
                <a:stCxn id="47" idx="5"/>
                <a:endCxn id="51" idx="2"/>
              </p:cNvCxnSpPr>
              <p:nvPr/>
            </p:nvCxnSpPr>
            <p:spPr>
              <a:xfrm flipV="1">
                <a:off x="2275391" y="5595978"/>
                <a:ext cx="697857" cy="8754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85F2E145-8C9C-F2C6-B299-3767B2A5125C}"/>
                  </a:ext>
                </a:extLst>
              </p:cNvPr>
              <p:cNvCxnSpPr>
                <a:cxnSpLocks/>
                <a:stCxn id="51" idx="4"/>
                <a:endCxn id="50" idx="7"/>
              </p:cNvCxnSpPr>
              <p:nvPr/>
            </p:nvCxnSpPr>
            <p:spPr>
              <a:xfrm>
                <a:off x="2996108" y="5619169"/>
                <a:ext cx="479374" cy="3075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B35EE99-BB1E-4C2E-3230-6789FDC2F1A1}"/>
                </a:ext>
              </a:extLst>
            </p:cNvPr>
            <p:cNvGrpSpPr/>
            <p:nvPr/>
          </p:nvGrpSpPr>
          <p:grpSpPr>
            <a:xfrm>
              <a:off x="3520881" y="1400046"/>
              <a:ext cx="2704121" cy="1176223"/>
              <a:chOff x="1156048" y="4978796"/>
              <a:chExt cx="2704121" cy="1176223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62C6AA7-A9C2-0ACC-2970-5E29A653BB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1988" y="5152031"/>
                <a:ext cx="0" cy="7951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CC0D808-CF03-A68B-F606-EBAF64835C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1988" y="5947162"/>
                <a:ext cx="217335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4265B49-C7E6-6166-F3D5-49C212FF0281}"/>
                  </a:ext>
                </a:extLst>
              </p:cNvPr>
              <p:cNvSpPr/>
              <p:nvPr/>
            </p:nvSpPr>
            <p:spPr>
              <a:xfrm>
                <a:off x="1459127" y="5923971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9583FAC-988F-3DBE-9F6D-EC5969F6BB65}"/>
                  </a:ext>
                </a:extLst>
              </p:cNvPr>
              <p:cNvSpPr/>
              <p:nvPr/>
            </p:nvSpPr>
            <p:spPr>
              <a:xfrm>
                <a:off x="1738558" y="5391519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450E3B6-C8F6-C96A-1812-9ACAFE9A4AEF}"/>
                  </a:ext>
                </a:extLst>
              </p:cNvPr>
              <p:cNvSpPr/>
              <p:nvPr/>
            </p:nvSpPr>
            <p:spPr>
              <a:xfrm>
                <a:off x="1960043" y="5378358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19E7109-D0F6-05F2-3A1A-AD389BA6384B}"/>
                  </a:ext>
                </a:extLst>
              </p:cNvPr>
              <p:cNvSpPr/>
              <p:nvPr/>
            </p:nvSpPr>
            <p:spPr>
              <a:xfrm>
                <a:off x="2245160" y="5395420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FF86DC5-1236-EAA3-3018-C8D74496429B}"/>
                  </a:ext>
                </a:extLst>
              </p:cNvPr>
              <p:cNvSpPr/>
              <p:nvPr/>
            </p:nvSpPr>
            <p:spPr>
              <a:xfrm>
                <a:off x="2519938" y="5364932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B5D5340-6ADC-47A6-4C6B-43DD1D73CF04}"/>
                  </a:ext>
                </a:extLst>
              </p:cNvPr>
              <p:cNvSpPr/>
              <p:nvPr/>
            </p:nvSpPr>
            <p:spPr>
              <a:xfrm>
                <a:off x="2723733" y="5370518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F165835-004E-7EEB-F228-1EAF89CE43F1}"/>
                  </a:ext>
                </a:extLst>
              </p:cNvPr>
              <p:cNvSpPr/>
              <p:nvPr/>
            </p:nvSpPr>
            <p:spPr>
              <a:xfrm flipV="1">
                <a:off x="3425454" y="5887650"/>
                <a:ext cx="58612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ADBB094-F950-2D9A-9978-2508E6262362}"/>
                  </a:ext>
                </a:extLst>
              </p:cNvPr>
              <p:cNvSpPr/>
              <p:nvPr/>
            </p:nvSpPr>
            <p:spPr>
              <a:xfrm>
                <a:off x="2951529" y="5414710"/>
                <a:ext cx="45719" cy="4638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810A6FD-1CCD-ABAF-A84D-425BD31EBDD7}"/>
                  </a:ext>
                </a:extLst>
              </p:cNvPr>
              <p:cNvSpPr/>
              <p:nvPr/>
            </p:nvSpPr>
            <p:spPr>
              <a:xfrm flipV="1">
                <a:off x="3218685" y="568783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noProof="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769083D-B22B-4FA7-1194-8F80CEB58FEC}"/>
                  </a:ext>
                </a:extLst>
              </p:cNvPr>
              <p:cNvSpPr txBox="1"/>
              <p:nvPr/>
            </p:nvSpPr>
            <p:spPr>
              <a:xfrm>
                <a:off x="3569705" y="5785687"/>
                <a:ext cx="2904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BE" dirty="0"/>
                  <a:t>x</a:t>
                </a:r>
                <a:endParaRPr lang="fr-BE" noProof="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4223E2F-553F-601F-BED9-71F3DA3DABDC}"/>
                  </a:ext>
                </a:extLst>
              </p:cNvPr>
              <p:cNvSpPr txBox="1"/>
              <p:nvPr/>
            </p:nvSpPr>
            <p:spPr>
              <a:xfrm>
                <a:off x="1156048" y="4978796"/>
                <a:ext cx="295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BE" b="1" noProof="0" dirty="0"/>
                  <a:t>v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5E8E668-678C-2BD7-230B-962490824254}"/>
                  </a:ext>
                </a:extLst>
              </p:cNvPr>
              <p:cNvCxnSpPr>
                <a:cxnSpLocks/>
                <a:stCxn id="28" idx="2"/>
              </p:cNvCxnSpPr>
              <p:nvPr/>
            </p:nvCxnSpPr>
            <p:spPr>
              <a:xfrm flipV="1">
                <a:off x="1459127" y="5378358"/>
                <a:ext cx="285502" cy="5688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687C225-0C02-7039-39A2-2111F4304D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5413" y="5401549"/>
                <a:ext cx="119783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E4EAD67-4ACF-3263-CFB9-DF81E0E7612B}"/>
                  </a:ext>
                </a:extLst>
              </p:cNvPr>
              <p:cNvCxnSpPr>
                <a:cxnSpLocks/>
                <a:endCxn id="34" idx="7"/>
              </p:cNvCxnSpPr>
              <p:nvPr/>
            </p:nvCxnSpPr>
            <p:spPr>
              <a:xfrm>
                <a:off x="2950386" y="5414710"/>
                <a:ext cx="525096" cy="51196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327BD2-4481-1020-D8CE-446D53DAE5A3}"/>
                </a:ext>
              </a:extLst>
            </p:cNvPr>
            <p:cNvSpPr txBox="1"/>
            <p:nvPr/>
          </p:nvSpPr>
          <p:spPr>
            <a:xfrm>
              <a:off x="6947495" y="1876336"/>
              <a:ext cx="1561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noProof="0" dirty="0"/>
                <a:t>xxx km/kWh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575E460-AF9D-B8B0-51ED-A64FD06B7440}"/>
                </a:ext>
              </a:extLst>
            </p:cNvPr>
            <p:cNvCxnSpPr/>
            <p:nvPr/>
          </p:nvCxnSpPr>
          <p:spPr>
            <a:xfrm>
              <a:off x="3215640" y="1994037"/>
              <a:ext cx="452878" cy="115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11B416-72A0-F697-0606-A1544C5B94CA}"/>
                </a:ext>
              </a:extLst>
            </p:cNvPr>
            <p:cNvCxnSpPr/>
            <p:nvPr/>
          </p:nvCxnSpPr>
          <p:spPr>
            <a:xfrm>
              <a:off x="6261667" y="2047046"/>
              <a:ext cx="452878" cy="115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69E35841-C86C-2AB0-12C5-72B46971B6E6}"/>
                </a:ext>
              </a:extLst>
            </p:cNvPr>
            <p:cNvSpPr/>
            <p:nvPr/>
          </p:nvSpPr>
          <p:spPr>
            <a:xfrm>
              <a:off x="1744980" y="1240570"/>
              <a:ext cx="5654040" cy="927394"/>
            </a:xfrm>
            <a:prstGeom prst="arc">
              <a:avLst>
                <a:gd name="adj1" fmla="val 10789240"/>
                <a:gd name="adj2" fmla="val 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8F6F42-E5B5-8023-B8C1-09A8E301773A}"/>
                </a:ext>
              </a:extLst>
            </p:cNvPr>
            <p:cNvSpPr txBox="1"/>
            <p:nvPr/>
          </p:nvSpPr>
          <p:spPr>
            <a:xfrm>
              <a:off x="3935447" y="840393"/>
              <a:ext cx="12731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noProof="0" dirty="0"/>
                <a:t>optimiseur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FE0FF8F-93AE-89B2-3190-11B91D6DEF75}"/>
                </a:ext>
              </a:extLst>
            </p:cNvPr>
            <p:cNvSpPr txBox="1"/>
            <p:nvPr/>
          </p:nvSpPr>
          <p:spPr>
            <a:xfrm>
              <a:off x="5278267" y="2583814"/>
              <a:ext cx="29661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BE" sz="1400" noProof="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lapConsumption_postprocess</a:t>
              </a:r>
              <a:endParaRPr lang="fr-BE" sz="14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FD8CC55-8370-C0E4-CCFD-D7D0F1340044}"/>
                    </a:ext>
                  </a:extLst>
                </p:cNvPr>
                <p:cNvSpPr txBox="1"/>
                <p:nvPr/>
              </p:nvSpPr>
              <p:spPr>
                <a:xfrm>
                  <a:off x="2025076" y="2666905"/>
                  <a:ext cx="2834006" cy="5013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fr-BE" sz="14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140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BE" sz="1400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ctrlPr>
                              <a:rPr lang="fr-BE" sz="1400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BE" sz="1400" dirty="0"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num>
                          <m:den>
                            <m:r>
                              <a:rPr lang="fr-BE" sz="1400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fr-BE" sz="1400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BE" sz="14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1400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BE" sz="1400" dirty="0">
                                <a:latin typeface="Cambria Math" panose="02040503050406030204" pitchFamily="18" charset="0"/>
                              </a:rPr>
                              <m:t>𝑡𝑟𝑎𝑐</m:t>
                            </m:r>
                          </m:sub>
                        </m:sSub>
                        <m:r>
                          <a:rPr lang="fr-BE" sz="1400" dirty="0">
                            <a:latin typeface="Cambria Math" panose="02040503050406030204" pitchFamily="18" charset="0"/>
                          </a:rPr>
                          <m:t>–</m:t>
                        </m:r>
                        <m:sSub>
                          <m:sSubPr>
                            <m:ctrlPr>
                              <a:rPr lang="fr-BE" sz="14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1400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BE" sz="1400" dirty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oMath>
                    </m:oMathPara>
                  </a14:m>
                  <a:endParaRPr lang="fr-BE" sz="1400" noProof="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FD8CC55-8370-C0E4-CCFD-D7D0F1340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5076" y="2666905"/>
                  <a:ext cx="2834006" cy="501356"/>
                </a:xfrm>
                <a:prstGeom prst="rect">
                  <a:avLst/>
                </a:prstGeom>
                <a:blipFill>
                  <a:blip r:embed="rId3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9B4FFAE-F9CF-9E00-2624-DEE3F9C350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9954" y="2088290"/>
              <a:ext cx="10912" cy="605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CE7C8E1-BD94-9ECC-A414-B7FC12C42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9297" y="2154804"/>
              <a:ext cx="28049" cy="3684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763689A6-204E-5C60-1BEA-F2CD0F16B53E}"/>
                </a:ext>
              </a:extLst>
            </p:cNvPr>
            <p:cNvSpPr/>
            <p:nvPr/>
          </p:nvSpPr>
          <p:spPr>
            <a:xfrm rot="5400000">
              <a:off x="4433574" y="1142736"/>
              <a:ext cx="144319" cy="30986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6749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F1AE-4011-ACFF-A97E-E89C327C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Side note sur la </a:t>
            </a:r>
            <a:r>
              <a:rPr lang="en-GB" dirty="0" err="1"/>
              <a:t>pénalisation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808DE-CFE5-F3E5-B25F-25141A78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DC0E4-B971-F58E-D803-4AFD03E07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8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9CB718-C2B9-FDEE-FD7B-C1D90DF62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174" y="692094"/>
            <a:ext cx="8005049" cy="2895323"/>
          </a:xfrm>
        </p:spPr>
        <p:txBody>
          <a:bodyPr>
            <a:normAutofit/>
          </a:bodyPr>
          <a:lstStyle/>
          <a:p>
            <a:r>
              <a:rPr lang="en-GB" sz="2000" dirty="0" err="1"/>
              <a:t>Ajouter</a:t>
            </a:r>
            <a:r>
              <a:rPr lang="en-GB" sz="2000" dirty="0"/>
              <a:t> </a:t>
            </a:r>
            <a:r>
              <a:rPr lang="en-GB" sz="2000" dirty="0" err="1"/>
              <a:t>une</a:t>
            </a:r>
            <a:r>
              <a:rPr lang="en-GB" sz="2000" dirty="0"/>
              <a:t> </a:t>
            </a:r>
            <a:r>
              <a:rPr lang="en-GB" sz="2000" dirty="0" err="1"/>
              <a:t>pénalisation</a:t>
            </a:r>
            <a:r>
              <a:rPr lang="en-GB" sz="2000" dirty="0"/>
              <a:t> </a:t>
            </a:r>
            <a:r>
              <a:rPr lang="en-GB" sz="2000" dirty="0" err="1"/>
              <a:t>réduit</a:t>
            </a:r>
            <a:r>
              <a:rPr lang="en-GB" sz="2000" dirty="0"/>
              <a:t> “</a:t>
            </a:r>
            <a:r>
              <a:rPr lang="en-GB" sz="2000" dirty="0" err="1"/>
              <a:t>généralement</a:t>
            </a:r>
            <a:r>
              <a:rPr lang="en-GB" sz="2000" dirty="0"/>
              <a:t>” le CPU time pour </a:t>
            </a:r>
            <a:r>
              <a:rPr lang="en-GB" sz="2000" dirty="0" err="1"/>
              <a:t>arriver</a:t>
            </a:r>
            <a:r>
              <a:rPr lang="en-GB" sz="2000" dirty="0"/>
              <a:t> à la solution </a:t>
            </a:r>
          </a:p>
          <a:p>
            <a:r>
              <a:rPr lang="en-GB" sz="2000" dirty="0"/>
              <a:t>Parfois, </a:t>
            </a:r>
            <a:r>
              <a:rPr lang="en-GB" sz="2000" dirty="0" err="1"/>
              <a:t>ajouter</a:t>
            </a:r>
            <a:r>
              <a:rPr lang="en-GB" sz="2000" dirty="0"/>
              <a:t> </a:t>
            </a:r>
            <a:r>
              <a:rPr lang="en-GB" sz="2000" dirty="0" err="1"/>
              <a:t>une</a:t>
            </a:r>
            <a:r>
              <a:rPr lang="en-GB" sz="2000" dirty="0"/>
              <a:t> </a:t>
            </a:r>
            <a:r>
              <a:rPr lang="en-GB" sz="2000" dirty="0" err="1"/>
              <a:t>pénalisation</a:t>
            </a:r>
            <a:r>
              <a:rPr lang="en-GB" sz="2000" dirty="0"/>
              <a:t> </a:t>
            </a:r>
            <a:r>
              <a:rPr lang="en-GB" sz="2000" b="1" dirty="0" err="1"/>
              <a:t>améliore</a:t>
            </a:r>
            <a:r>
              <a:rPr lang="en-GB" sz="2000" b="1" dirty="0"/>
              <a:t> la consommation </a:t>
            </a:r>
            <a:r>
              <a:rPr lang="en-GB" sz="2000" b="1" dirty="0" err="1"/>
              <a:t>optimale</a:t>
            </a:r>
            <a:r>
              <a:rPr lang="en-GB" sz="2000" b="1" dirty="0"/>
              <a:t> </a:t>
            </a:r>
            <a:r>
              <a:rPr lang="en-GB" sz="2000" dirty="0"/>
              <a:t>(</a:t>
            </a:r>
            <a:r>
              <a:rPr lang="en-GB" sz="2000" dirty="0" err="1"/>
              <a:t>alors</a:t>
            </a:r>
            <a:r>
              <a:rPr lang="en-GB" sz="2000" dirty="0"/>
              <a:t> </a:t>
            </a:r>
            <a:r>
              <a:rPr lang="en-GB" sz="2000" dirty="0" err="1"/>
              <a:t>que</a:t>
            </a:r>
            <a:r>
              <a:rPr lang="en-GB" sz="2000" dirty="0"/>
              <a:t> </a:t>
            </a:r>
            <a:r>
              <a:rPr lang="en-GB" sz="2000" dirty="0" err="1"/>
              <a:t>pénalisation</a:t>
            </a:r>
            <a:r>
              <a:rPr lang="en-GB" sz="2000" dirty="0"/>
              <a:t> = </a:t>
            </a:r>
            <a:r>
              <a:rPr lang="en-GB" sz="2000" dirty="0" err="1"/>
              <a:t>contrainte</a:t>
            </a:r>
            <a:r>
              <a:rPr lang="en-GB" sz="2000" dirty="0"/>
              <a:t> !) =&gt; </a:t>
            </a:r>
            <a:r>
              <a:rPr lang="en-GB" sz="2000" dirty="0" err="1"/>
              <a:t>l’optimiseur</a:t>
            </a:r>
            <a:r>
              <a:rPr lang="en-GB" sz="2000" dirty="0"/>
              <a:t> </a:t>
            </a:r>
            <a:r>
              <a:rPr lang="en-GB" sz="2000" dirty="0" err="1"/>
              <a:t>cherche</a:t>
            </a:r>
            <a:r>
              <a:rPr lang="en-GB" sz="2000" dirty="0"/>
              <a:t> un minimum </a:t>
            </a:r>
            <a:r>
              <a:rPr lang="en-GB" sz="2000" b="1" u="sng" dirty="0"/>
              <a:t>local</a:t>
            </a:r>
            <a:r>
              <a:rPr lang="en-GB" sz="2000" dirty="0"/>
              <a:t> et avec </a:t>
            </a:r>
            <a:r>
              <a:rPr lang="en-GB" sz="2000" dirty="0" err="1"/>
              <a:t>une</a:t>
            </a:r>
            <a:r>
              <a:rPr lang="en-GB" sz="2000" dirty="0"/>
              <a:t> tolerance</a:t>
            </a:r>
          </a:p>
          <a:p>
            <a:r>
              <a:rPr lang="en-GB" sz="2000" dirty="0"/>
              <a:t>Conseil : </a:t>
            </a:r>
            <a:r>
              <a:rPr lang="en-GB" sz="2000" dirty="0" err="1"/>
              <a:t>démarrer</a:t>
            </a:r>
            <a:r>
              <a:rPr lang="en-GB" sz="2000" dirty="0"/>
              <a:t> sans </a:t>
            </a:r>
            <a:r>
              <a:rPr lang="en-GB" sz="2000" dirty="0" err="1"/>
              <a:t>pénalisation</a:t>
            </a:r>
            <a:r>
              <a:rPr lang="en-GB" sz="2000" dirty="0"/>
              <a:t> &amp; </a:t>
            </a:r>
            <a:r>
              <a:rPr lang="en-GB" sz="2000" dirty="0" err="1"/>
              <a:t>si</a:t>
            </a:r>
            <a:r>
              <a:rPr lang="en-GB" sz="2000" dirty="0"/>
              <a:t> solution sans </a:t>
            </a:r>
            <a:r>
              <a:rPr lang="en-GB" sz="2000" dirty="0" err="1"/>
              <a:t>pénalisation</a:t>
            </a:r>
            <a:r>
              <a:rPr lang="en-GB" sz="2000" dirty="0"/>
              <a:t> a l’air smooth / plateau =&gt; </a:t>
            </a:r>
            <a:r>
              <a:rPr lang="en-GB" sz="2000" dirty="0" err="1"/>
              <a:t>ajouter</a:t>
            </a:r>
            <a:r>
              <a:rPr lang="en-GB" sz="2000" dirty="0"/>
              <a:t> </a:t>
            </a:r>
            <a:r>
              <a:rPr lang="en-GB" sz="2000" dirty="0" err="1"/>
              <a:t>une</a:t>
            </a:r>
            <a:r>
              <a:rPr lang="en-GB" sz="2000" dirty="0"/>
              <a:t> </a:t>
            </a:r>
            <a:r>
              <a:rPr lang="en-GB" sz="2000" dirty="0" err="1"/>
              <a:t>pénalisation</a:t>
            </a:r>
            <a:r>
              <a:rPr lang="en-GB" sz="2000" dirty="0"/>
              <a:t> est ok</a:t>
            </a:r>
          </a:p>
          <a:p>
            <a:r>
              <a:rPr lang="en-GB" sz="2000" dirty="0"/>
              <a:t>P-ê “implementer” </a:t>
            </a:r>
            <a:r>
              <a:rPr lang="en-GB" sz="2000" dirty="0" err="1"/>
              <a:t>une</a:t>
            </a:r>
            <a:r>
              <a:rPr lang="en-GB" sz="2000" dirty="0"/>
              <a:t> optimisation par algo. </a:t>
            </a:r>
            <a:r>
              <a:rPr lang="en-GB" sz="2000" dirty="0" err="1"/>
              <a:t>génétique</a:t>
            </a:r>
            <a:r>
              <a:rPr lang="en-GB" sz="2000" dirty="0"/>
              <a:t> ? (</a:t>
            </a:r>
            <a:r>
              <a:rPr lang="en-GB" sz="2000" dirty="0" err="1"/>
              <a:t>librairie</a:t>
            </a:r>
            <a:r>
              <a:rPr lang="en-GB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638FD7-A274-D725-7B84-94D53F5D2CFD}"/>
                  </a:ext>
                </a:extLst>
              </p:cNvPr>
              <p:cNvSpPr txBox="1"/>
              <p:nvPr/>
            </p:nvSpPr>
            <p:spPr>
              <a:xfrm>
                <a:off x="721912" y="3573360"/>
                <a:ext cx="35716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dirty="0"/>
                  <a:t>Discrétisation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1600" i="1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sz="1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sz="1600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fr-BE" sz="1600" b="0" i="0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fr-BE" sz="1600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fr-BE" sz="1600" dirty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BE" sz="1600" dirty="0"/>
                  <a:t> cst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b="1" dirty="0"/>
                  <a:t>Pas</a:t>
                </a:r>
                <a:r>
                  <a:rPr lang="fr-BE" sz="1600" dirty="0"/>
                  <a:t> de pénalisation</a:t>
                </a:r>
                <a:endParaRPr lang="fr-BE" sz="16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638FD7-A274-D725-7B84-94D53F5D2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12" y="3573360"/>
                <a:ext cx="3571606" cy="584775"/>
              </a:xfrm>
              <a:prstGeom prst="rect">
                <a:avLst/>
              </a:prstGeom>
              <a:blipFill>
                <a:blip r:embed="rId2"/>
                <a:stretch>
                  <a:fillRect l="-683" t="-4167" b="-114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AC2EAC3-3CCA-9C8D-AB1A-CEA282B6E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66" y="4151893"/>
            <a:ext cx="2234522" cy="17680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066A1C-8AD0-F5F8-1B65-ACAC83A891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188" y="4164378"/>
            <a:ext cx="2149472" cy="17680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325BCE-77B5-7A23-B404-6D27C0D0DBB1}"/>
              </a:ext>
            </a:extLst>
          </p:cNvPr>
          <p:cNvSpPr txBox="1"/>
          <p:nvPr/>
        </p:nvSpPr>
        <p:spPr>
          <a:xfrm>
            <a:off x="1360322" y="6057817"/>
            <a:ext cx="2544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+mj-lt"/>
              </a:rPr>
              <a:t>Efficiency: 352.01 km/kWh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D26F0D8-0CFF-D25C-AF63-7A78CB5680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342" y="4186895"/>
            <a:ext cx="2220675" cy="17985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A2C220C-35A1-EBD8-1C28-A24891ADA2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295" y="4201867"/>
            <a:ext cx="2202917" cy="1811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94C91F-7850-6824-1A48-E3424A2CFF60}"/>
                  </a:ext>
                </a:extLst>
              </p:cNvPr>
              <p:cNvSpPr txBox="1"/>
              <p:nvPr/>
            </p:nvSpPr>
            <p:spPr>
              <a:xfrm>
                <a:off x="5284475" y="3587417"/>
                <a:ext cx="346977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dirty="0"/>
                  <a:t>Discrétisation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1600" i="1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sz="1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sz="1600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fr-BE" sz="1600" b="0" i="0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fr-BE" sz="1600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fr-BE" sz="1600" dirty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BE" sz="1600" dirty="0"/>
                  <a:t> cst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dirty="0"/>
                  <a:t>Pénalisation w=1</a:t>
                </a:r>
                <a:endParaRPr lang="fr-BE" sz="1600" noProof="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94C91F-7850-6824-1A48-E3424A2CF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475" y="3587417"/>
                <a:ext cx="3469776" cy="584775"/>
              </a:xfrm>
              <a:prstGeom prst="rect">
                <a:avLst/>
              </a:prstGeom>
              <a:blipFill>
                <a:blip r:embed="rId7"/>
                <a:stretch>
                  <a:fillRect l="-703" t="-4167" b="-114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E845AA51-DF54-799A-9DC2-7F5F351ADBF4}"/>
              </a:ext>
            </a:extLst>
          </p:cNvPr>
          <p:cNvSpPr txBox="1"/>
          <p:nvPr/>
        </p:nvSpPr>
        <p:spPr>
          <a:xfrm>
            <a:off x="5617623" y="6129773"/>
            <a:ext cx="28346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+mj-lt"/>
              </a:rPr>
              <a:t>Efficiency: 353.29 km/kWh </a:t>
            </a:r>
            <a:r>
              <a:rPr lang="en-GB" sz="1600" b="1" dirty="0">
                <a:latin typeface="+mj-lt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458670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71E1-0B69-4E0C-7F7C-E58AB9F8C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8355496" cy="681036"/>
          </a:xfrm>
        </p:spPr>
        <p:txBody>
          <a:bodyPr/>
          <a:lstStyle/>
          <a:p>
            <a:r>
              <a:rPr lang="en-GB" dirty="0" err="1"/>
              <a:t>Optimiseur</a:t>
            </a:r>
            <a:r>
              <a:rPr lang="en-GB" dirty="0"/>
              <a:t> de </a:t>
            </a:r>
            <a:r>
              <a:rPr lang="en-GB" dirty="0" err="1"/>
              <a:t>conduite</a:t>
            </a:r>
            <a:r>
              <a:rPr lang="en-GB" dirty="0"/>
              <a:t> : </a:t>
            </a:r>
            <a:r>
              <a:rPr lang="fr-BE" noProof="0" dirty="0"/>
              <a:t>Inputs &amp; outputs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22F69-D7EA-079D-CDE9-4EB00849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5460E-E22B-4565-90E6-E4027A0F32B5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8D7EF-4A52-C6A2-4509-24E0BA946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479741"/>
            <a:ext cx="2057400" cy="365125"/>
          </a:xfrm>
        </p:spPr>
        <p:txBody>
          <a:bodyPr/>
          <a:lstStyle/>
          <a:p>
            <a:fld id="{46899FAB-5005-482A-88F2-FE97823A1A33}" type="slidenum">
              <a:rPr lang="fr-BE" noProof="0" smtClean="0"/>
              <a:pPr/>
              <a:t>9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5361E-2B51-7E5B-9BFF-8C431EC7E3A5}"/>
              </a:ext>
            </a:extLst>
          </p:cNvPr>
          <p:cNvSpPr txBox="1"/>
          <p:nvPr/>
        </p:nvSpPr>
        <p:spPr>
          <a:xfrm>
            <a:off x="541908" y="1317823"/>
            <a:ext cx="206938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noProof="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Param. voiture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3A39C-EB21-375B-859A-9A96C05B405C}"/>
              </a:ext>
            </a:extLst>
          </p:cNvPr>
          <p:cNvSpPr txBox="1"/>
          <p:nvPr/>
        </p:nvSpPr>
        <p:spPr>
          <a:xfrm>
            <a:off x="6532713" y="1317823"/>
            <a:ext cx="218836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noProof="0" dirty="0"/>
              <a:t>Param. train roulant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7133D-77B7-BDDE-5572-15D80F524A63}"/>
              </a:ext>
            </a:extLst>
          </p:cNvPr>
          <p:cNvSpPr txBox="1"/>
          <p:nvPr/>
        </p:nvSpPr>
        <p:spPr>
          <a:xfrm>
            <a:off x="3537309" y="1315029"/>
            <a:ext cx="206938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noProof="0" dirty="0"/>
              <a:t>Param. circuit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BBCDD-FE81-4116-0D97-35D59E406D8A}"/>
              </a:ext>
            </a:extLst>
          </p:cNvPr>
          <p:cNvSpPr txBox="1"/>
          <p:nvPr/>
        </p:nvSpPr>
        <p:spPr>
          <a:xfrm>
            <a:off x="2931166" y="2554321"/>
            <a:ext cx="328166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BE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lapConsumption_optimize</a:t>
            </a:r>
            <a:endParaRPr lang="fr-BE" noProof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864C1-0751-C80C-9382-30750F720357}"/>
              </a:ext>
            </a:extLst>
          </p:cNvPr>
          <p:cNvSpPr txBox="1"/>
          <p:nvPr/>
        </p:nvSpPr>
        <p:spPr>
          <a:xfrm>
            <a:off x="5893222" y="3134009"/>
            <a:ext cx="2935419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BE" sz="14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lapConsumption_postProcess</a:t>
            </a:r>
            <a:endParaRPr lang="fr-BE" sz="1400" noProof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81397-4F7F-EF41-2B08-A12ADAEA5688}"/>
              </a:ext>
            </a:extLst>
          </p:cNvPr>
          <p:cNvSpPr txBox="1"/>
          <p:nvPr/>
        </p:nvSpPr>
        <p:spPr>
          <a:xfrm>
            <a:off x="2395330" y="4310757"/>
            <a:ext cx="4353339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noProof="0" dirty="0">
                <a:ea typeface="Cascadia Code" panose="020B0609020000020004" pitchFamily="49" charset="0"/>
                <a:cs typeface="Cascadia Code" panose="020B0609020000020004" pitchFamily="49" charset="0"/>
              </a:rPr>
              <a:t>Profil de force trac. optimal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noProof="0" dirty="0">
                <a:ea typeface="Cascadia Code" panose="020B0609020000020004" pitchFamily="49" charset="0"/>
                <a:cs typeface="Cascadia Code" panose="020B0609020000020004" pitchFamily="49" charset="0"/>
              </a:rPr>
              <a:t>Profil de vitesse optimal</a:t>
            </a:r>
            <a:endParaRPr lang="fr-BE" noProof="0" dirty="0">
              <a:latin typeface="+mj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noProof="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Consommation &amp; Efficacité </a:t>
            </a:r>
            <a:r>
              <a:rPr lang="fr-BE" b="1" noProof="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pour une conduite optimale</a:t>
            </a:r>
          </a:p>
          <a:p>
            <a:pPr algn="ctr"/>
            <a:endParaRPr lang="fr-BE" noProof="0" dirty="0">
              <a:latin typeface="+mj-lt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B95AC3-4C52-C265-784F-B0018D378BDE}"/>
              </a:ext>
            </a:extLst>
          </p:cNvPr>
          <p:cNvCxnSpPr>
            <a:cxnSpLocks/>
          </p:cNvCxnSpPr>
          <p:nvPr/>
        </p:nvCxnSpPr>
        <p:spPr>
          <a:xfrm>
            <a:off x="1603483" y="1774400"/>
            <a:ext cx="1414062" cy="642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ED2507-DB98-C101-E7E9-3F37DEAD4590}"/>
              </a:ext>
            </a:extLst>
          </p:cNvPr>
          <p:cNvCxnSpPr>
            <a:cxnSpLocks/>
          </p:cNvCxnSpPr>
          <p:nvPr/>
        </p:nvCxnSpPr>
        <p:spPr>
          <a:xfrm>
            <a:off x="4571999" y="1771606"/>
            <a:ext cx="0" cy="644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CDE095-5760-4B66-5334-0BFB2B20DC38}"/>
              </a:ext>
            </a:extLst>
          </p:cNvPr>
          <p:cNvCxnSpPr>
            <a:cxnSpLocks/>
          </p:cNvCxnSpPr>
          <p:nvPr/>
        </p:nvCxnSpPr>
        <p:spPr>
          <a:xfrm flipH="1">
            <a:off x="6212834" y="1774400"/>
            <a:ext cx="1327683" cy="692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C11460-2D18-37AE-1EC6-7E84A234680E}"/>
              </a:ext>
            </a:extLst>
          </p:cNvPr>
          <p:cNvCxnSpPr>
            <a:cxnSpLocks/>
          </p:cNvCxnSpPr>
          <p:nvPr/>
        </p:nvCxnSpPr>
        <p:spPr>
          <a:xfrm>
            <a:off x="6272262" y="2834802"/>
            <a:ext cx="758016" cy="266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7121952-A0D2-1B93-4D88-2CEC0F44167E}"/>
              </a:ext>
            </a:extLst>
          </p:cNvPr>
          <p:cNvCxnSpPr>
            <a:cxnSpLocks/>
          </p:cNvCxnSpPr>
          <p:nvPr/>
        </p:nvCxnSpPr>
        <p:spPr>
          <a:xfrm flipH="1" flipV="1">
            <a:off x="5902498" y="2979863"/>
            <a:ext cx="226700" cy="123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79493B-5502-566E-9BA6-25DC9C3E3C16}"/>
              </a:ext>
            </a:extLst>
          </p:cNvPr>
          <p:cNvCxnSpPr>
            <a:cxnSpLocks/>
          </p:cNvCxnSpPr>
          <p:nvPr/>
        </p:nvCxnSpPr>
        <p:spPr>
          <a:xfrm>
            <a:off x="4571999" y="3100802"/>
            <a:ext cx="0" cy="1071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8418D8A-B129-BDAE-0D0B-68035619973B}"/>
              </a:ext>
            </a:extLst>
          </p:cNvPr>
          <p:cNvSpPr txBox="1"/>
          <p:nvPr/>
        </p:nvSpPr>
        <p:spPr>
          <a:xfrm>
            <a:off x="4955376" y="5078519"/>
            <a:ext cx="1875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800" b="1" noProof="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(Théoriques !)</a:t>
            </a:r>
            <a:endParaRPr lang="fr-BE" noProof="0" dirty="0"/>
          </a:p>
        </p:txBody>
      </p:sp>
    </p:spTree>
    <p:extLst>
      <p:ext uri="{BB962C8B-B14F-4D97-AF65-F5344CB8AC3E}">
        <p14:creationId xmlns:p14="http://schemas.microsoft.com/office/powerpoint/2010/main" val="1613593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46E0F-CCFA-FD6C-A162-C3CFADFD4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/>
              <a:t>Inputs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71D24-E8A3-40F5-7B7F-8E16B8F2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44225-82CC-481E-E3D3-E06C52BBB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10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7676213-A25B-A740-3FD3-32598128C5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7332" y="1227403"/>
                <a:ext cx="4463180" cy="189882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fr-BE" noProof="0" dirty="0"/>
                  <a:t>Masse voiture</a:t>
                </a:r>
              </a:p>
              <a:p>
                <a:r>
                  <a:rPr lang="fr-BE" noProof="0" dirty="0"/>
                  <a:t>Masse pilote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BE" b="1" i="1" smtClean="0">
                            <a:latin typeface="Cambria Math" panose="02040503050406030204" pitchFamily="18" charset="0"/>
                          </a:rPr>
                          <m:t>SC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BE" b="1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endParaRPr lang="fr-BE" b="1" noProof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1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BE" b="1" i="1" noProof="0" smtClean="0">
                            <a:latin typeface="Cambria Math" panose="02040503050406030204" pitchFamily="18" charset="0"/>
                          </a:rPr>
                          <m:t>𝑟𝑟</m:t>
                        </m:r>
                      </m:sub>
                    </m:sSub>
                  </m:oMath>
                </a14:m>
                <a:endParaRPr lang="fr-BE" noProof="0" dirty="0"/>
              </a:p>
              <a:p>
                <a:r>
                  <a:rPr lang="fr-BE" dirty="0"/>
                  <a:t>Inertie train roulant ~négligée (1.04)</a:t>
                </a:r>
                <a:endParaRPr lang="fr-BE" noProof="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7676213-A25B-A740-3FD3-32598128C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7332" y="1227403"/>
                <a:ext cx="4463180" cy="1898820"/>
              </a:xfrm>
              <a:blipFill>
                <a:blip r:embed="rId2"/>
                <a:stretch>
                  <a:fillRect l="-1230" t="-4487" b="-4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16FD13-8FA4-B1F2-A548-C77A080D2BD8}"/>
                  </a:ext>
                </a:extLst>
              </p:cNvPr>
              <p:cNvSpPr txBox="1"/>
              <p:nvPr/>
            </p:nvSpPr>
            <p:spPr>
              <a:xfrm>
                <a:off x="3631096" y="1456449"/>
                <a:ext cx="42463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fr-BE" sz="2000" b="0" i="1" noProof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sz="2000" b="0" i="1" noProof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BE" sz="2000" b="0" i="1" noProof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sz="2000" b="0" i="1" noProof="0" dirty="0" smtClean="0">
                        <a:latin typeface="Cambria Math" panose="02040503050406030204" pitchFamily="18" charset="0"/>
                      </a:rPr>
                      <m:t>𝟎𝟒</m:t>
                    </m:r>
                    <m:sSub>
                      <m:sSubPr>
                        <m:ctrlP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r>
                      <a:rPr lang="fr-BE" sz="2000" b="0" i="1" noProof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BE" sz="2000" b="0" i="1" noProof="0" dirty="0" smtClean="0">
                            <a:latin typeface="Cambria Math" panose="02040503050406030204" pitchFamily="18" charset="0"/>
                          </a:rPr>
                          <m:t>𝑑𝑟𝑖𝑣𝑒𝑟</m:t>
                        </m:r>
                      </m:sub>
                    </m:sSub>
                  </m:oMath>
                </a14:m>
                <a:r>
                  <a:rPr lang="fr-BE" sz="2000" noProof="0" dirty="0"/>
                  <a:t> </a:t>
                </a:r>
                <a:r>
                  <a:rPr lang="fr-BE" sz="1400" noProof="0" dirty="0"/>
                  <a:t>(pour inertie)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16FD13-8FA4-B1F2-A548-C77A080D2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096" y="1456449"/>
                <a:ext cx="4246355" cy="400110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6EBC5A89-64D0-8F75-78FB-CBC3F2EC8847}"/>
              </a:ext>
            </a:extLst>
          </p:cNvPr>
          <p:cNvSpPr/>
          <p:nvPr/>
        </p:nvSpPr>
        <p:spPr>
          <a:xfrm>
            <a:off x="3445565" y="1227403"/>
            <a:ext cx="185531" cy="8784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B1CBE-0494-05D8-F863-BEC7CA4CA811}"/>
              </a:ext>
            </a:extLst>
          </p:cNvPr>
          <p:cNvSpPr txBox="1"/>
          <p:nvPr/>
        </p:nvSpPr>
        <p:spPr>
          <a:xfrm>
            <a:off x="5957254" y="2370849"/>
            <a:ext cx="225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noProof="0" dirty="0"/>
              <a:t>Valeurs (+ précises)?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DF56AD-91FD-3A7F-C796-407564F75DBB}"/>
              </a:ext>
            </a:extLst>
          </p:cNvPr>
          <p:cNvCxnSpPr>
            <a:cxnSpLocks/>
          </p:cNvCxnSpPr>
          <p:nvPr/>
        </p:nvCxnSpPr>
        <p:spPr>
          <a:xfrm flipH="1" flipV="1">
            <a:off x="2471530" y="2177480"/>
            <a:ext cx="3385931" cy="30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AD570E-0C25-1EBD-A89E-1790B5D01393}"/>
              </a:ext>
            </a:extLst>
          </p:cNvPr>
          <p:cNvCxnSpPr>
            <a:cxnSpLocks/>
          </p:cNvCxnSpPr>
          <p:nvPr/>
        </p:nvCxnSpPr>
        <p:spPr>
          <a:xfrm flipH="1" flipV="1">
            <a:off x="4121426" y="2611046"/>
            <a:ext cx="1785931" cy="64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A718B6-FD6C-EE98-CD18-233EB80EFB69}"/>
              </a:ext>
            </a:extLst>
          </p:cNvPr>
          <p:cNvCxnSpPr>
            <a:cxnSpLocks/>
          </p:cNvCxnSpPr>
          <p:nvPr/>
        </p:nvCxnSpPr>
        <p:spPr>
          <a:xfrm flipH="1" flipV="1">
            <a:off x="4717774" y="1916578"/>
            <a:ext cx="1163547" cy="437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04C17697-1D97-750F-7336-0B2D54C943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593" y="4011328"/>
                <a:ext cx="7744181" cy="18988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bg1">
                        <a:lumMod val="50000"/>
                      </a:schemeClr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BE" dirty="0"/>
                  <a:t>η batterie, </a:t>
                </a:r>
                <a:r>
                  <a:rPr lang="fr-BE" dirty="0" err="1"/>
                  <a:t>pow</a:t>
                </a:r>
                <a:r>
                  <a:rPr lang="fr-BE" dirty="0"/>
                  <a:t>. Elen &amp; transmission (=1 pas de donnée, ou absorbés dans </a:t>
                </a:r>
                <a:r>
                  <a:rPr lang="fr-BE" b="1" dirty="0"/>
                  <a:t>η </a:t>
                </a:r>
                <a:r>
                  <a:rPr lang="fr-BE" dirty="0"/>
                  <a:t>moteur)</a:t>
                </a:r>
              </a:p>
              <a:p>
                <a:r>
                  <a:rPr lang="fr-BE" dirty="0"/>
                  <a:t>Caractéristiques moteur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fr-BE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fr-BE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fr-BE" dirty="0"/>
              </a:p>
              <a:p>
                <a:r>
                  <a:rPr lang="fr-BE" b="1" dirty="0"/>
                  <a:t>map η moteur </a:t>
                </a:r>
                <a:r>
                  <a:rPr lang="fr-BE" dirty="0"/>
                  <a:t>(infos moteur ?)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fr-BE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𝑚𝑜𝑡</m:t>
                        </m:r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fr-BE" i="1" dirty="0" smtClean="0">
                            <a:latin typeface="Cambria Math" panose="02040503050406030204" pitchFamily="18" charset="0"/>
                          </a:rPr>
                          <m:t>𝑟𝑜𝑢𝑒</m:t>
                        </m:r>
                      </m:sub>
                    </m:sSub>
                  </m:oMath>
                </a14:m>
                <a:endParaRPr lang="fr-BE" dirty="0"/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04C17697-1D97-750F-7336-0B2D54C94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93" y="4011328"/>
                <a:ext cx="7744181" cy="1898820"/>
              </a:xfrm>
              <a:prstGeom prst="rect">
                <a:avLst/>
              </a:prstGeom>
              <a:blipFill>
                <a:blip r:embed="rId4"/>
                <a:stretch>
                  <a:fillRect l="-1023" t="-5449" b="-3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B490873-E45C-5D66-0DF8-EC593C2FBB9A}"/>
              </a:ext>
            </a:extLst>
          </p:cNvPr>
          <p:cNvSpPr txBox="1"/>
          <p:nvPr/>
        </p:nvSpPr>
        <p:spPr>
          <a:xfrm>
            <a:off x="167309" y="573897"/>
            <a:ext cx="4654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noProof="0" dirty="0">
                <a:solidFill>
                  <a:srgbClr val="00707F"/>
                </a:solidFill>
              </a:rPr>
              <a:t>Param. voiture</a:t>
            </a:r>
            <a:endParaRPr lang="en-GB" b="1" dirty="0">
              <a:solidFill>
                <a:srgbClr val="00707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A2E530-1F0F-9E29-660D-73B07DFFC399}"/>
              </a:ext>
            </a:extLst>
          </p:cNvPr>
          <p:cNvSpPr txBox="1"/>
          <p:nvPr/>
        </p:nvSpPr>
        <p:spPr>
          <a:xfrm>
            <a:off x="167309" y="3295935"/>
            <a:ext cx="4654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noProof="0" dirty="0">
                <a:solidFill>
                  <a:srgbClr val="00707F"/>
                </a:solidFill>
              </a:rPr>
              <a:t>Param. </a:t>
            </a:r>
            <a:r>
              <a:rPr lang="fr-BE" sz="3200" b="1" dirty="0">
                <a:solidFill>
                  <a:srgbClr val="00707F"/>
                </a:solidFill>
              </a:rPr>
              <a:t>t</a:t>
            </a:r>
            <a:r>
              <a:rPr lang="fr-BE" sz="3200" b="1" noProof="0" dirty="0" err="1">
                <a:solidFill>
                  <a:srgbClr val="00707F"/>
                </a:solidFill>
              </a:rPr>
              <a:t>rain</a:t>
            </a:r>
            <a:r>
              <a:rPr lang="fr-BE" sz="3200" b="1" noProof="0" dirty="0">
                <a:solidFill>
                  <a:srgbClr val="00707F"/>
                </a:solidFill>
              </a:rPr>
              <a:t> roulant</a:t>
            </a:r>
            <a:endParaRPr lang="en-GB" b="1" dirty="0">
              <a:solidFill>
                <a:srgbClr val="0070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072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FD0B9-2EC0-5D6D-6627-2D1DE165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4FA2-1B58-BA58-BC15-F438A67F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/>
              <a:t>Inputs : Param. circuit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DAB89-37AF-1C75-7530-871EE8DF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DC26F-3B55-B76D-6AC3-3D16ED387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11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3866A14-2259-6596-DBDF-BE9ABC0AC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5055" y="1009030"/>
                <a:ext cx="7737554" cy="3982201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fr-BE" b="1" u="sng" noProof="0" dirty="0"/>
                  <a:t>Discrétisation</a:t>
                </a:r>
                <a:r>
                  <a:rPr lang="fr-BE" noProof="0" dirty="0"/>
                  <a:t> de la position</a:t>
                </a:r>
              </a:p>
              <a:p>
                <a:pPr>
                  <a:lnSpc>
                    <a:spcPct val="100000"/>
                  </a:lnSpc>
                </a:pPr>
                <a:r>
                  <a:rPr lang="fr-BE" noProof="0" dirty="0"/>
                  <a:t>Profil altimétrique discrétisé</a:t>
                </a:r>
              </a:p>
              <a:p>
                <a:pPr>
                  <a:lnSpc>
                    <a:spcPct val="100000"/>
                  </a:lnSpc>
                </a:pPr>
                <a:r>
                  <a:rPr lang="fr-BE" noProof="0" dirty="0"/>
                  <a:t>Choix du pas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i="1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BE" noProof="0" dirty="0"/>
                  <a:t> entre 2 points crucial (on veut résultat indép.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i="1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BE" noProof="0" dirty="0"/>
                  <a:t>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fr-BE" noProof="0" dirty="0"/>
                  <a:t>Que veut-on ? 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fr-BE" noProof="0" dirty="0"/>
                  <a:t>Consommation ? </a:t>
                </a:r>
                <a:r>
                  <a:rPr lang="fr-BE" dirty="0"/>
                  <a:t>=&gt;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fr-BE" dirty="0"/>
                  <a:t>  acceptable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fr-BE" noProof="0" dirty="0"/>
                  <a:t>Profil de vitesse optimal =&gt;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i="1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fr-BE" dirty="0"/>
                  <a:t>  p-ê nécessaire</a:t>
                </a:r>
              </a:p>
              <a:p>
                <a:pPr lvl="2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i="1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fr-BE" noProof="0" dirty="0"/>
                  <a:t> = CPU Time </a:t>
                </a:r>
                <a14:m>
                  <m:oMath xmlns:m="http://schemas.openxmlformats.org/officeDocument/2006/math">
                    <m:r>
                      <a:rPr lang="fr-BE" i="1" dirty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fr-BE" dirty="0"/>
                  <a:t> ~(1/ </a:t>
                </a:r>
                <a14:m>
                  <m:oMath xmlns:m="http://schemas.openxmlformats.org/officeDocument/2006/math">
                    <m:r>
                      <a:rPr lang="fr-BE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BE" noProof="0" dirty="0"/>
                  <a:t>)^2 environ</a:t>
                </a:r>
              </a:p>
              <a:p>
                <a:pPr>
                  <a:lnSpc>
                    <a:spcPct val="100000"/>
                  </a:lnSpc>
                </a:pPr>
                <a:r>
                  <a:rPr lang="fr-BE" noProof="0" dirty="0"/>
                  <a:t>Pour l’instant, simulation ligne droite : pas de virage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fr-BE" noProof="0" dirty="0"/>
                  <a:t>pas de force résistance de virage, pas besoin de freiner pour les virages=&gt; erreurs 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3866A14-2259-6596-DBDF-BE9ABC0AC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5055" y="1009030"/>
                <a:ext cx="7737554" cy="3982201"/>
              </a:xfrm>
              <a:blipFill>
                <a:blip r:embed="rId2"/>
                <a:stretch>
                  <a:fillRect l="-1024" t="-18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F0DD6DB1-31FC-0336-0235-E3634DF8A68F}"/>
              </a:ext>
            </a:extLst>
          </p:cNvPr>
          <p:cNvGrpSpPr/>
          <p:nvPr/>
        </p:nvGrpSpPr>
        <p:grpSpPr>
          <a:xfrm>
            <a:off x="1205071" y="5256918"/>
            <a:ext cx="2728167" cy="1430924"/>
            <a:chOff x="1145051" y="3650017"/>
            <a:chExt cx="2728167" cy="1430924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F08CB63-669D-323A-1DA5-0E169B6E99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0991" y="3823252"/>
              <a:ext cx="0" cy="7951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DD94C23-0646-7775-B321-D2D847405198}"/>
                </a:ext>
              </a:extLst>
            </p:cNvPr>
            <p:cNvCxnSpPr>
              <a:cxnSpLocks/>
            </p:cNvCxnSpPr>
            <p:nvPr/>
          </p:nvCxnSpPr>
          <p:spPr>
            <a:xfrm>
              <a:off x="1470991" y="4618383"/>
              <a:ext cx="217335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000E7DF-8227-60FE-BC28-6D93245F87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0989" y="3907570"/>
              <a:ext cx="2000183" cy="699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34B0215-410E-5C85-ADFD-043220294723}"/>
                </a:ext>
              </a:extLst>
            </p:cNvPr>
            <p:cNvSpPr/>
            <p:nvPr/>
          </p:nvSpPr>
          <p:spPr>
            <a:xfrm>
              <a:off x="1448130" y="4595192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267B7C9-A20C-72BD-C9A4-1988B3AFF691}"/>
                </a:ext>
              </a:extLst>
            </p:cNvPr>
            <p:cNvSpPr/>
            <p:nvPr/>
          </p:nvSpPr>
          <p:spPr>
            <a:xfrm>
              <a:off x="1669110" y="4503752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89ECED-7B28-4AE3-EE88-6E59104EA513}"/>
                </a:ext>
              </a:extLst>
            </p:cNvPr>
            <p:cNvSpPr/>
            <p:nvPr/>
          </p:nvSpPr>
          <p:spPr>
            <a:xfrm>
              <a:off x="1960575" y="4406597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2705119-5C2C-248B-A06D-D5468130E21F}"/>
                </a:ext>
              </a:extLst>
            </p:cNvPr>
            <p:cNvSpPr/>
            <p:nvPr/>
          </p:nvSpPr>
          <p:spPr>
            <a:xfrm>
              <a:off x="2225370" y="4315157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B32D78F-EA63-31EF-5A0B-F8FEE5AB3878}"/>
                </a:ext>
              </a:extLst>
            </p:cNvPr>
            <p:cNvSpPr/>
            <p:nvPr/>
          </p:nvSpPr>
          <p:spPr>
            <a:xfrm>
              <a:off x="2511950" y="4220817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71E1F74-D3D0-D5D2-5839-B33AD6AAFF26}"/>
                </a:ext>
              </a:extLst>
            </p:cNvPr>
            <p:cNvSpPr/>
            <p:nvPr/>
          </p:nvSpPr>
          <p:spPr>
            <a:xfrm>
              <a:off x="2743090" y="4126396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C3ACB15-897A-28FD-86B2-6FF850659F15}"/>
                </a:ext>
              </a:extLst>
            </p:cNvPr>
            <p:cNvSpPr/>
            <p:nvPr/>
          </p:nvSpPr>
          <p:spPr>
            <a:xfrm>
              <a:off x="3425453" y="3884380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2D3987B-0E9E-B8C1-A88D-D33BB8A6B990}"/>
                </a:ext>
              </a:extLst>
            </p:cNvPr>
            <p:cNvSpPr/>
            <p:nvPr/>
          </p:nvSpPr>
          <p:spPr>
            <a:xfrm>
              <a:off x="2956450" y="4060356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F478570-3BAD-F43D-B405-99393F8EB38F}"/>
                </a:ext>
              </a:extLst>
            </p:cNvPr>
            <p:cNvSpPr/>
            <p:nvPr/>
          </p:nvSpPr>
          <p:spPr>
            <a:xfrm>
              <a:off x="3174890" y="3976536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85D253C-CD4D-BED8-186E-425B30BE5A3D}"/>
                </a:ext>
              </a:extLst>
            </p:cNvPr>
            <p:cNvSpPr txBox="1"/>
            <p:nvPr/>
          </p:nvSpPr>
          <p:spPr>
            <a:xfrm>
              <a:off x="3558708" y="4456908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noProof="0" dirty="0"/>
                <a:t>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B2693E2-FA3E-1731-1FC6-09785F87C80C}"/>
                </a:ext>
              </a:extLst>
            </p:cNvPr>
            <p:cNvSpPr txBox="1"/>
            <p:nvPr/>
          </p:nvSpPr>
          <p:spPr>
            <a:xfrm>
              <a:off x="1145051" y="3650017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noProof="0" dirty="0"/>
                <a:t>x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3FA4CB9-3B60-8CA8-FB75-B2B7D661EE7C}"/>
                </a:ext>
              </a:extLst>
            </p:cNvPr>
            <p:cNvCxnSpPr/>
            <p:nvPr/>
          </p:nvCxnSpPr>
          <p:spPr>
            <a:xfrm>
              <a:off x="1714829" y="4734560"/>
              <a:ext cx="32479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578A42-D2B3-E7B0-65C3-670613A6C263}"/>
                </a:ext>
              </a:extLst>
            </p:cNvPr>
            <p:cNvSpPr txBox="1"/>
            <p:nvPr/>
          </p:nvSpPr>
          <p:spPr>
            <a:xfrm>
              <a:off x="1663864" y="4711609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noProof="0" dirty="0"/>
                <a:t>dx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AD13811-854D-57C5-4206-864585F86005}"/>
              </a:ext>
            </a:extLst>
          </p:cNvPr>
          <p:cNvGrpSpPr/>
          <p:nvPr/>
        </p:nvGrpSpPr>
        <p:grpSpPr>
          <a:xfrm>
            <a:off x="4572000" y="5260858"/>
            <a:ext cx="2728167" cy="1176223"/>
            <a:chOff x="1156048" y="4978796"/>
            <a:chExt cx="2728167" cy="1176223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2A8640F-98A7-2B01-B8DB-F2A221F93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1988" y="5152031"/>
              <a:ext cx="0" cy="7951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67F2A3F-5475-7BBA-8A15-01A43A92F587}"/>
                </a:ext>
              </a:extLst>
            </p:cNvPr>
            <p:cNvCxnSpPr>
              <a:cxnSpLocks/>
            </p:cNvCxnSpPr>
            <p:nvPr/>
          </p:nvCxnSpPr>
          <p:spPr>
            <a:xfrm>
              <a:off x="1481988" y="5947162"/>
              <a:ext cx="217335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164157-094D-665E-4FD9-97498CBD262D}"/>
                </a:ext>
              </a:extLst>
            </p:cNvPr>
            <p:cNvSpPr/>
            <p:nvPr/>
          </p:nvSpPr>
          <p:spPr>
            <a:xfrm>
              <a:off x="1459127" y="5923971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7613810-E87B-A18D-31E0-B51D405B2196}"/>
                </a:ext>
              </a:extLst>
            </p:cNvPr>
            <p:cNvSpPr/>
            <p:nvPr/>
          </p:nvSpPr>
          <p:spPr>
            <a:xfrm>
              <a:off x="1680107" y="5832531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B8E1243-DA93-CD62-A4C0-123F7B981816}"/>
                </a:ext>
              </a:extLst>
            </p:cNvPr>
            <p:cNvSpPr/>
            <p:nvPr/>
          </p:nvSpPr>
          <p:spPr>
            <a:xfrm>
              <a:off x="1971572" y="5735376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2BB92EE-2897-93B9-BB0D-9D50F6F93CC2}"/>
                </a:ext>
              </a:extLst>
            </p:cNvPr>
            <p:cNvSpPr/>
            <p:nvPr/>
          </p:nvSpPr>
          <p:spPr>
            <a:xfrm>
              <a:off x="2236367" y="5643936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2E760D9-8E7A-C5C9-421F-2C20B3B6DACB}"/>
                </a:ext>
              </a:extLst>
            </p:cNvPr>
            <p:cNvSpPr/>
            <p:nvPr/>
          </p:nvSpPr>
          <p:spPr>
            <a:xfrm>
              <a:off x="2514435" y="5617926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3047CC2-EF69-2408-3D6A-8001FA7DF85B}"/>
                </a:ext>
              </a:extLst>
            </p:cNvPr>
            <p:cNvSpPr/>
            <p:nvPr/>
          </p:nvSpPr>
          <p:spPr>
            <a:xfrm>
              <a:off x="2743089" y="5584382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900F09E-9AB9-6251-9CBD-693E329948EA}"/>
                </a:ext>
              </a:extLst>
            </p:cNvPr>
            <p:cNvSpPr/>
            <p:nvPr/>
          </p:nvSpPr>
          <p:spPr>
            <a:xfrm flipV="1">
              <a:off x="3425454" y="5887650"/>
              <a:ext cx="58612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9606318-5F3F-23CB-91F5-C6F04F524D2A}"/>
                </a:ext>
              </a:extLst>
            </p:cNvPr>
            <p:cNvSpPr/>
            <p:nvPr/>
          </p:nvSpPr>
          <p:spPr>
            <a:xfrm>
              <a:off x="2973248" y="5572787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054963F-2E87-68E4-4A31-9627910B00ED}"/>
                </a:ext>
              </a:extLst>
            </p:cNvPr>
            <p:cNvSpPr/>
            <p:nvPr/>
          </p:nvSpPr>
          <p:spPr>
            <a:xfrm>
              <a:off x="3218685" y="5733554"/>
              <a:ext cx="45719" cy="463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noProof="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4733186-039F-307A-F8BD-C628D0DDE983}"/>
                </a:ext>
              </a:extLst>
            </p:cNvPr>
            <p:cNvSpPr txBox="1"/>
            <p:nvPr/>
          </p:nvSpPr>
          <p:spPr>
            <a:xfrm>
              <a:off x="3569705" y="5785687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noProof="0" dirty="0"/>
                <a:t>n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CB6D286-0104-3997-485B-D934B358F7C5}"/>
                </a:ext>
              </a:extLst>
            </p:cNvPr>
            <p:cNvSpPr txBox="1"/>
            <p:nvPr/>
          </p:nvSpPr>
          <p:spPr>
            <a:xfrm>
              <a:off x="1156048" y="497879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noProof="0" dirty="0"/>
                <a:t>z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348ED8D-7587-BB56-73CC-68AB88EAE7DD}"/>
                </a:ext>
              </a:extLst>
            </p:cNvPr>
            <p:cNvCxnSpPr>
              <a:stCxn id="61" idx="2"/>
              <a:endCxn id="64" idx="3"/>
            </p:cNvCxnSpPr>
            <p:nvPr/>
          </p:nvCxnSpPr>
          <p:spPr>
            <a:xfrm flipV="1">
              <a:off x="1459127" y="5683526"/>
              <a:ext cx="783935" cy="2636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48FAA59-5DE6-6F1D-9475-06BA1E96C0BB}"/>
                </a:ext>
              </a:extLst>
            </p:cNvPr>
            <p:cNvCxnSpPr>
              <a:cxnSpLocks/>
              <a:stCxn id="64" idx="5"/>
              <a:endCxn id="68" idx="2"/>
            </p:cNvCxnSpPr>
            <p:nvPr/>
          </p:nvCxnSpPr>
          <p:spPr>
            <a:xfrm flipV="1">
              <a:off x="2275391" y="5595978"/>
              <a:ext cx="697857" cy="875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21C9092-9E69-0474-FE43-7FA916AB69C9}"/>
                </a:ext>
              </a:extLst>
            </p:cNvPr>
            <p:cNvCxnSpPr>
              <a:cxnSpLocks/>
              <a:stCxn id="68" idx="4"/>
              <a:endCxn id="67" idx="7"/>
            </p:cNvCxnSpPr>
            <p:nvPr/>
          </p:nvCxnSpPr>
          <p:spPr>
            <a:xfrm>
              <a:off x="2996108" y="5619169"/>
              <a:ext cx="479374" cy="3075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4976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3758-40F4-68AA-5557-9C237A3D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6189-1896-FA14-E618-ADF9E1E5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 err="1"/>
              <a:t>Outline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9F821-1461-8462-4FAC-7304DF9A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1CC52-696B-B420-9CE4-8FAC29008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12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786B1F-64F7-8742-ACFC-57442B8E1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9" y="1851545"/>
            <a:ext cx="7552026" cy="3816482"/>
          </a:xfrm>
        </p:spPr>
        <p:txBody>
          <a:bodyPr>
            <a:normAutofit/>
          </a:bodyPr>
          <a:lstStyle/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Pourquoi ?</a:t>
            </a:r>
          </a:p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How it works ?</a:t>
            </a:r>
            <a:r>
              <a:rPr lang="en-GB" sz="2800" dirty="0" err="1">
                <a:solidFill>
                  <a:schemeClr val="bg2">
                    <a:lumMod val="75000"/>
                  </a:schemeClr>
                </a:solidFill>
              </a:rPr>
              <a:t>Calculateur</a:t>
            </a: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 de consommation </a:t>
            </a:r>
          </a:p>
          <a:p>
            <a:r>
              <a:rPr lang="fr-BE" sz="2800" noProof="0" dirty="0"/>
              <a:t>Résultats </a:t>
            </a:r>
            <a:r>
              <a:rPr lang="fr-BE" sz="2800" dirty="0"/>
              <a:t>rendement mot. non cst</a:t>
            </a:r>
            <a:endParaRPr lang="fr-BE" sz="2800" noProof="0" dirty="0"/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Résultats rendement mot. cst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Calcul de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sensitivities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Mass vs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SCx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tradeoff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Conclusions : directions de développement</a:t>
            </a:r>
          </a:p>
          <a:p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60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9B71-570D-7293-A9B7-DA491268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/>
              <a:t>Paramètres utilisés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73E33-E8DA-801D-9794-A17EF3D7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B51DA-7B3D-A657-4F3C-3AF11844D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13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3898280-B848-CE92-B654-265946423A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4809" y="1139687"/>
                <a:ext cx="7876704" cy="45283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BE" b="1" i="1">
                            <a:latin typeface="Cambria Math" panose="02040503050406030204" pitchFamily="18" charset="0"/>
                          </a:rPr>
                          <m:t>SC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BE" b="1" i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fr-BE" b="1" dirty="0"/>
                  <a:t> = 0,04 </a:t>
                </a:r>
                <a:r>
                  <a:rPr lang="fr-BE" sz="2000" dirty="0"/>
                  <a:t>(&lt;-CFD, estimation +- valide)</a:t>
                </a:r>
                <a:endParaRPr lang="fr-BE" sz="2000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1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BE" b="1" i="1">
                            <a:latin typeface="Cambria Math" panose="02040503050406030204" pitchFamily="18" charset="0"/>
                          </a:rPr>
                          <m:t>𝑟𝑟</m:t>
                        </m:r>
                      </m:sub>
                    </m:sSub>
                  </m:oMath>
                </a14:m>
                <a:r>
                  <a:rPr lang="fr-BE" noProof="0" dirty="0"/>
                  <a:t> = 0,008 </a:t>
                </a:r>
                <a:r>
                  <a:rPr lang="fr-BE" sz="2000" noProof="0" dirty="0"/>
                  <a:t>(????)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1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BE" b="1" i="1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</m:oMath>
                </a14:m>
                <a:r>
                  <a:rPr lang="fr-BE" dirty="0"/>
                  <a:t> </a:t>
                </a:r>
                <a:r>
                  <a:rPr lang="fr-BE" noProof="0" dirty="0"/>
                  <a:t>= 46,8 </a:t>
                </a:r>
                <a:r>
                  <a:rPr lang="fr-BE" sz="2000" noProof="0" dirty="0"/>
                  <a:t>(ok)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1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BE" b="1" i="1" smtClean="0">
                            <a:latin typeface="Cambria Math" panose="02040503050406030204" pitchFamily="18" charset="0"/>
                          </a:rPr>
                          <m:t>𝑑𝑟𝑖𝑣𝑒𝑟</m:t>
                        </m:r>
                      </m:sub>
                    </m:sSub>
                  </m:oMath>
                </a14:m>
                <a:r>
                  <a:rPr lang="fr-BE" noProof="0" dirty="0"/>
                  <a:t>= 50 </a:t>
                </a:r>
                <a:r>
                  <a:rPr lang="fr-BE" sz="2000" noProof="0" dirty="0"/>
                  <a:t>(ok)</a:t>
                </a:r>
              </a:p>
              <a:p>
                <a:r>
                  <a:rPr lang="fr-BE" noProof="0" dirty="0"/>
                  <a:t>Tracé = 7*1200m </a:t>
                </a:r>
                <a:r>
                  <a:rPr lang="fr-BE" sz="2000" noProof="0" dirty="0"/>
                  <a:t>(7 tours </a:t>
                </a:r>
                <a:r>
                  <a:rPr lang="fr-BE" sz="2000" noProof="0" dirty="0" err="1"/>
                  <a:t>silesa</a:t>
                </a:r>
                <a:r>
                  <a:rPr lang="fr-BE" sz="2000" noProof="0" dirty="0"/>
                  <a:t> ring) </a:t>
                </a:r>
              </a:p>
              <a:p>
                <a:pPr lvl="1"/>
                <a:r>
                  <a:rPr lang="fr-BE" noProof="0" dirty="0"/>
                  <a:t>Altimétrie du </a:t>
                </a:r>
                <a:r>
                  <a:rPr lang="fr-BE" noProof="0" dirty="0" err="1"/>
                  <a:t>silesia</a:t>
                </a:r>
                <a:r>
                  <a:rPr lang="fr-BE" noProof="0" dirty="0"/>
                  <a:t> ring utilisée</a:t>
                </a:r>
              </a:p>
              <a:p>
                <a:r>
                  <a:rPr lang="fr-BE" dirty="0"/>
                  <a:t>Discrétisation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i="1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dirty="0">
                        <a:latin typeface="Cambria Math" panose="02040503050406030204" pitchFamily="18" charset="0"/>
                      </a:rPr>
                      <m:t> = 50</m:t>
                    </m:r>
                    <m:r>
                      <m:rPr>
                        <m:sty m:val="p"/>
                      </m:rPr>
                      <a:rPr lang="fr-BE" dirty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BE" dirty="0"/>
                  <a:t> constant</a:t>
                </a:r>
                <a:endParaRPr lang="fr-BE" noProof="0" dirty="0"/>
              </a:p>
              <a:p>
                <a:r>
                  <a:rPr lang="fr-BE" noProof="0" dirty="0"/>
                  <a:t>Moteur </a:t>
                </a:r>
                <a:r>
                  <a:rPr lang="fr-BE" noProof="0" dirty="0" err="1"/>
                  <a:t>maxon</a:t>
                </a:r>
                <a:r>
                  <a:rPr lang="fr-BE" noProof="0" dirty="0"/>
                  <a:t> 400W: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B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BE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fr-BE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noProof="0" dirty="0"/>
                  <a:t>= 0,768Nm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B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BE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noProof="0" dirty="0"/>
                  <a:t>=7000 RPM</a:t>
                </a:r>
              </a:p>
              <a:p>
                <a:endParaRPr lang="fr-BE" noProof="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3898280-B848-CE92-B654-265946423A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4809" y="1139687"/>
                <a:ext cx="7876704" cy="4528340"/>
              </a:xfrm>
              <a:blipFill>
                <a:blip r:embed="rId3"/>
                <a:stretch>
                  <a:fillRect l="-1084" t="-1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32E4112-0EC9-5C0B-C11E-8AA003E4C1CA}"/>
              </a:ext>
            </a:extLst>
          </p:cNvPr>
          <p:cNvSpPr txBox="1"/>
          <p:nvPr/>
        </p:nvSpPr>
        <p:spPr>
          <a:xfrm>
            <a:off x="5875977" y="1689652"/>
            <a:ext cx="2816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err="1">
                <a:solidFill>
                  <a:srgbClr val="C00000"/>
                </a:solidFill>
              </a:rPr>
              <a:t>Résultats</a:t>
            </a:r>
            <a:r>
              <a:rPr lang="en-GB" sz="2000" b="1" dirty="0">
                <a:solidFill>
                  <a:srgbClr val="C00000"/>
                </a:solidFill>
              </a:rPr>
              <a:t> à prendre avec des </a:t>
            </a:r>
            <a:r>
              <a:rPr lang="en-GB" sz="2000" b="1" dirty="0" err="1">
                <a:solidFill>
                  <a:srgbClr val="C00000"/>
                </a:solidFill>
              </a:rPr>
              <a:t>pincettes</a:t>
            </a:r>
            <a:r>
              <a:rPr lang="en-GB" sz="2000" b="1" dirty="0">
                <a:solidFill>
                  <a:srgbClr val="C00000"/>
                </a:solidFill>
              </a:rPr>
              <a:t> !!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337648-7A1E-83BD-2162-529FC51E61B5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299791" y="1861930"/>
            <a:ext cx="2576186" cy="18166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568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ADD9-C38C-9D10-2383-D3ABAFC59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4904" cy="681036"/>
          </a:xfrm>
        </p:spPr>
        <p:txBody>
          <a:bodyPr/>
          <a:lstStyle/>
          <a:p>
            <a:r>
              <a:rPr lang="fr-BE" noProof="0" dirty="0" err="1"/>
              <a:t>Motor</a:t>
            </a:r>
            <a:r>
              <a:rPr lang="fr-BE" noProof="0" dirty="0"/>
              <a:t> </a:t>
            </a:r>
            <a:r>
              <a:rPr lang="fr-BE" noProof="0" dirty="0" err="1"/>
              <a:t>efficiency</a:t>
            </a:r>
            <a:r>
              <a:rPr lang="fr-BE" noProof="0" dirty="0"/>
              <a:t> </a:t>
            </a:r>
            <a:r>
              <a:rPr lang="fr-BE" noProof="0" dirty="0" err="1"/>
              <a:t>map</a:t>
            </a:r>
            <a:r>
              <a:rPr lang="fr-BE" noProof="0" dirty="0"/>
              <a:t> (</a:t>
            </a:r>
            <a:r>
              <a:rPr lang="fr-BE" noProof="0" dirty="0" err="1"/>
              <a:t>assumed</a:t>
            </a:r>
            <a:r>
              <a:rPr lang="fr-BE" noProof="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30A6B-B94B-BC14-1813-E2D05B70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0C3E6-1771-1C3D-C650-AE35806E3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14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046CCE-E1BB-4054-67EA-C821AC00D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230" y="2015218"/>
            <a:ext cx="4685805" cy="36636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B1128D-95BB-1C12-F264-871B753A0CA6}"/>
                  </a:ext>
                </a:extLst>
              </p:cNvPr>
              <p:cNvSpPr txBox="1"/>
              <p:nvPr/>
            </p:nvSpPr>
            <p:spPr>
              <a:xfrm>
                <a:off x="927652" y="960255"/>
                <a:ext cx="23257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B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BE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BE" b="0" i="1" dirty="0" smtClean="0">
                          <a:latin typeface="Cambria Math" panose="02040503050406030204" pitchFamily="18" charset="0"/>
                        </a:rPr>
                        <m:t>  = 0,23 </m:t>
                      </m:r>
                    </m:oMath>
                  </m:oMathPara>
                </a14:m>
                <a:endParaRPr lang="fr-B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B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BE" i="1" dirty="0">
                              <a:latin typeface="Cambria Math" panose="02040503050406030204" pitchFamily="18" charset="0"/>
                            </a:rPr>
                            <m:t>𝑚𝑜𝑡</m:t>
                          </m:r>
                          <m:r>
                            <a:rPr lang="fr-BE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fr-BE" i="1" dirty="0">
                              <a:latin typeface="Cambria Math" panose="02040503050406030204" pitchFamily="18" charset="0"/>
                            </a:rPr>
                            <m:t>𝑟𝑜𝑢𝑒</m:t>
                          </m:r>
                        </m:sub>
                      </m:sSub>
                      <m:r>
                        <a:rPr lang="fr-BE" b="0" i="1" dirty="0" smtClean="0">
                          <a:latin typeface="Cambria Math" panose="02040503050406030204" pitchFamily="18" charset="0"/>
                        </a:rPr>
                        <m:t> = 7</m:t>
                      </m:r>
                      <m:r>
                        <a:rPr lang="fr-BE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BE" noProof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B1128D-95BB-1C12-F264-871B753A0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52" y="960255"/>
                <a:ext cx="232575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999915-A82C-581E-075B-554914606BE6}"/>
                  </a:ext>
                </a:extLst>
              </p:cNvPr>
              <p:cNvSpPr txBox="1"/>
              <p:nvPr/>
            </p:nvSpPr>
            <p:spPr>
              <a:xfrm>
                <a:off x="4000496" y="947046"/>
                <a:ext cx="2325759" cy="65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BE" sz="18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fr-BE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BE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BE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BE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fr-BE" sz="1800" i="1" dirty="0">
                              <a:latin typeface="Cambria Math" panose="02040503050406030204" pitchFamily="18" charset="0"/>
                            </a:rPr>
                            <m:t>60 </m:t>
                          </m:r>
                          <m:sSub>
                            <m:sSubPr>
                              <m:ctrlPr>
                                <a:rPr lang="fr-B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sz="18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BE" sz="1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fr-BE" sz="1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fr-BE" sz="1800" i="1" dirty="0">
                          <a:latin typeface="Cambria Math" panose="02040503050406030204" pitchFamily="18" charset="0"/>
                        </a:rPr>
                        <m:t>𝑅𝑃</m:t>
                      </m:r>
                      <m:sSub>
                        <m:sSubPr>
                          <m:ctrlPr>
                            <a:rPr lang="fr-B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8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BE" sz="1800" i="1" dirty="0">
                              <a:latin typeface="Cambria Math" panose="02040503050406030204" pitchFamily="18" charset="0"/>
                            </a:rPr>
                            <m:t>𝑚𝑜𝑡</m:t>
                          </m:r>
                        </m:sub>
                      </m:sSub>
                    </m:oMath>
                  </m:oMathPara>
                </a14:m>
                <a:endParaRPr lang="fr-BE" sz="1800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999915-A82C-581E-075B-554914606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496" y="947046"/>
                <a:ext cx="2325759" cy="659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637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1D71-48B2-4BE2-772C-DEC9FEA8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8302488" cy="681036"/>
          </a:xfrm>
        </p:spPr>
        <p:txBody>
          <a:bodyPr/>
          <a:lstStyle/>
          <a:p>
            <a:r>
              <a:rPr lang="fr-BE" dirty="0"/>
              <a:t>B</a:t>
            </a:r>
            <a:r>
              <a:rPr lang="fr-BE" noProof="0" dirty="0" err="1"/>
              <a:t>reakdown</a:t>
            </a:r>
            <a:r>
              <a:rPr lang="fr-BE" noProof="0" dirty="0"/>
              <a:t> consommation (travail), utile 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7D3F2-7FA5-B6A9-F294-72A12BD8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6373F-9321-6C21-F0CD-F5FC6C7A5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15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9BD101-6FDA-6DD9-18CB-AF8C28AB9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498" y="1029100"/>
            <a:ext cx="6254212" cy="38808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F2A111-3C44-87C0-1730-EF3FD5570C16}"/>
              </a:ext>
            </a:extLst>
          </p:cNvPr>
          <p:cNvSpPr txBox="1"/>
          <p:nvPr/>
        </p:nvSpPr>
        <p:spPr>
          <a:xfrm>
            <a:off x="874643" y="5274365"/>
            <a:ext cx="79580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Travail </a:t>
            </a:r>
            <a:r>
              <a:rPr lang="en-GB" dirty="0" err="1"/>
              <a:t>inertie</a:t>
            </a:r>
            <a:r>
              <a:rPr lang="en-GB" dirty="0"/>
              <a:t> ~0 car </a:t>
            </a:r>
            <a:r>
              <a:rPr lang="en-GB" dirty="0" err="1"/>
              <a:t>accélération</a:t>
            </a:r>
            <a:r>
              <a:rPr lang="en-GB" dirty="0"/>
              <a:t> -&gt; W&gt;0, coast -&gt; W&lt;0  </a:t>
            </a:r>
          </a:p>
          <a:p>
            <a:r>
              <a:rPr lang="en-GB" dirty="0"/>
              <a:t>idem pour </a:t>
            </a:r>
            <a:r>
              <a:rPr lang="en-GB" dirty="0" err="1"/>
              <a:t>gravité</a:t>
            </a:r>
            <a:endParaRPr lang="en-GB" dirty="0"/>
          </a:p>
          <a:p>
            <a:r>
              <a:rPr lang="en-GB" dirty="0" err="1"/>
              <a:t>Probablement</a:t>
            </a:r>
            <a:r>
              <a:rPr lang="en-GB" dirty="0"/>
              <a:t> moyen </a:t>
            </a:r>
            <a:r>
              <a:rPr lang="en-GB" dirty="0" err="1"/>
              <a:t>d’améliorer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est-</a:t>
            </a:r>
            <a:r>
              <a:rPr lang="en-GB" dirty="0" err="1"/>
              <a:t>ce</a:t>
            </a:r>
            <a:r>
              <a:rPr lang="en-GB" dirty="0"/>
              <a:t> utile ? Sensitivities est </a:t>
            </a:r>
            <a:r>
              <a:rPr lang="en-GB" dirty="0" err="1"/>
              <a:t>meilleur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4231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0CC31-B859-98D0-9AB2-3B11BA10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8834-6B39-314C-5F37-EF0A1C91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 err="1"/>
              <a:t>Outline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A17C8-132D-85CF-EE62-4C05A298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37697-C321-8267-DB87-4DF56EBCD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16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567602-9970-6EE6-BB8E-5B5942E08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9" y="1851545"/>
            <a:ext cx="7552026" cy="3816482"/>
          </a:xfrm>
        </p:spPr>
        <p:txBody>
          <a:bodyPr>
            <a:normAutofit/>
          </a:bodyPr>
          <a:lstStyle/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Pourquoi ?</a:t>
            </a:r>
          </a:p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How it works ?</a:t>
            </a:r>
            <a:r>
              <a:rPr lang="en-GB" sz="2800" dirty="0" err="1">
                <a:solidFill>
                  <a:schemeClr val="bg2">
                    <a:lumMod val="75000"/>
                  </a:schemeClr>
                </a:solidFill>
              </a:rPr>
              <a:t>Calculateur</a:t>
            </a: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 de consommation </a:t>
            </a: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Résultats </a:t>
            </a:r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rendement mot. non cst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(07/10/26) </a:t>
            </a:r>
          </a:p>
          <a:p>
            <a:r>
              <a:rPr lang="fr-BE" sz="2800" dirty="0"/>
              <a:t>Résultats rendement mot. cst (07/10/26) </a:t>
            </a:r>
            <a:endParaRPr lang="fr-BE" sz="2800" noProof="0" dirty="0"/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Calcul de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sensitivities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Mass vs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SCx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tradeoff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Conclusions : directions de développement</a:t>
            </a:r>
          </a:p>
          <a:p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91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7233-9C1B-9359-DE3B-F7AFC63DD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18E5-57BA-0905-4F7D-D1447C55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772400" cy="681036"/>
          </a:xfrm>
        </p:spPr>
        <p:txBody>
          <a:bodyPr/>
          <a:lstStyle/>
          <a:p>
            <a:r>
              <a:rPr lang="en-GB" dirty="0"/>
              <a:t>Simulation 2 : </a:t>
            </a:r>
            <a:r>
              <a:rPr lang="en-GB" dirty="0" err="1"/>
              <a:t>altimétrie</a:t>
            </a:r>
            <a:r>
              <a:rPr lang="en-GB" dirty="0"/>
              <a:t> Silesia 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DBBE6-B9D4-AACB-F06C-4DA2977D6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30B7E-3BA7-6416-A361-71B06A33B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17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4E8625-68A2-59BE-C8AD-F71116465A21}"/>
                  </a:ext>
                </a:extLst>
              </p:cNvPr>
              <p:cNvSpPr txBox="1"/>
              <p:nvPr/>
            </p:nvSpPr>
            <p:spPr>
              <a:xfrm>
                <a:off x="4187686" y="749057"/>
                <a:ext cx="365097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dirty="0"/>
                  <a:t>Discrétisation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1600" i="1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sz="1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sz="1600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fr-BE" sz="1600" b="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fr-BE" sz="1600" b="0" i="1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BE" sz="1600" dirty="0"/>
                  <a:t> cst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dirty="0"/>
                  <a:t>Pas de pénalisation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noProof="0" dirty="0" err="1"/>
                  <a:t>Altimé</a:t>
                </a:r>
                <a:r>
                  <a:rPr lang="fr-BE" sz="1600" dirty="0"/>
                  <a:t>trie interpolée du </a:t>
                </a:r>
                <a:r>
                  <a:rPr lang="fr-BE" sz="1600" dirty="0" err="1"/>
                  <a:t>silesa</a:t>
                </a:r>
                <a:r>
                  <a:rPr lang="fr-BE" sz="1600" dirty="0"/>
                  <a:t> ring</a:t>
                </a:r>
                <a:endParaRPr lang="fr-BE" sz="1600" noProof="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4E8625-68A2-59BE-C8AD-F71116465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686" y="749057"/>
                <a:ext cx="3650974" cy="830997"/>
              </a:xfrm>
              <a:prstGeom prst="rect">
                <a:avLst/>
              </a:prstGeom>
              <a:blipFill>
                <a:blip r:embed="rId2"/>
                <a:stretch>
                  <a:fillRect l="-668" t="-2941" b="-80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7B3A0B0-28AD-BE18-A89C-CEE128C61414}"/>
              </a:ext>
            </a:extLst>
          </p:cNvPr>
          <p:cNvSpPr txBox="1"/>
          <p:nvPr/>
        </p:nvSpPr>
        <p:spPr>
          <a:xfrm>
            <a:off x="769168" y="6005950"/>
            <a:ext cx="29827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+mj-lt"/>
              </a:rPr>
              <a:t>Efficiency: 349,28 km/kWh</a:t>
            </a:r>
            <a:endParaRPr lang="en-GB" sz="1600" b="1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38077D-9E79-FA13-D5F0-58B344071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50237"/>
            <a:ext cx="3170212" cy="2607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C52C2E-4F09-3F4B-DB23-C031596500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9" y="3167440"/>
            <a:ext cx="3489249" cy="27032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9B0669-78FF-9EA5-3064-B0FDD99711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69" y="689601"/>
            <a:ext cx="2982732" cy="23320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EA2E28-5345-2A77-0198-E236E3153A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710" y="4157870"/>
            <a:ext cx="3098898" cy="25098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191E0A-E042-644A-5187-A07EFF82A98C}"/>
              </a:ext>
            </a:extLst>
          </p:cNvPr>
          <p:cNvSpPr txBox="1"/>
          <p:nvPr/>
        </p:nvSpPr>
        <p:spPr>
          <a:xfrm>
            <a:off x="1714814" y="1670972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cst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F8152E-A931-6C69-141A-C971737B4FE7}"/>
              </a:ext>
            </a:extLst>
          </p:cNvPr>
          <p:cNvSpPr/>
          <p:nvPr/>
        </p:nvSpPr>
        <p:spPr>
          <a:xfrm>
            <a:off x="4896678" y="1748085"/>
            <a:ext cx="2936930" cy="6331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A4F1C1-8384-F354-B90B-6E40C956B428}"/>
              </a:ext>
            </a:extLst>
          </p:cNvPr>
          <p:cNvSpPr txBox="1"/>
          <p:nvPr/>
        </p:nvSpPr>
        <p:spPr>
          <a:xfrm>
            <a:off x="7944678" y="1748085"/>
            <a:ext cx="961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Normal :</a:t>
            </a:r>
            <a:br>
              <a:rPr lang="en-GB" sz="1600" dirty="0">
                <a:solidFill>
                  <a:srgbClr val="C00000"/>
                </a:solidFill>
              </a:rPr>
            </a:br>
            <a:r>
              <a:rPr lang="en-GB" sz="1600" dirty="0">
                <a:solidFill>
                  <a:srgbClr val="C00000"/>
                </a:solidFill>
              </a:rPr>
              <a:t>altitude</a:t>
            </a:r>
          </a:p>
        </p:txBody>
      </p:sp>
    </p:spTree>
    <p:extLst>
      <p:ext uri="{BB962C8B-B14F-4D97-AF65-F5344CB8AC3E}">
        <p14:creationId xmlns:p14="http://schemas.microsoft.com/office/powerpoint/2010/main" val="1033694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3DE0B-8316-AEC9-1DEA-424396EAA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97C6-328A-3D46-232F-A2FBFBA9A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8633791" cy="681036"/>
          </a:xfrm>
        </p:spPr>
        <p:txBody>
          <a:bodyPr/>
          <a:lstStyle/>
          <a:p>
            <a:r>
              <a:rPr lang="en-GB" dirty="0"/>
              <a:t>Simulation 2 : Silesia Ring </a:t>
            </a:r>
            <a:r>
              <a:rPr lang="en-GB" dirty="0" err="1"/>
              <a:t>conduite</a:t>
            </a:r>
            <a:r>
              <a:rPr lang="en-GB" dirty="0"/>
              <a:t> </a:t>
            </a:r>
            <a:r>
              <a:rPr lang="en-GB" dirty="0" err="1"/>
              <a:t>optimale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84B70-5F88-FE42-E250-CA60E80DE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B4654-863A-62BD-EBCF-18C3EB1AF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18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AEB7A3-A6D5-4F03-04E8-EF9693CE8F57}"/>
                  </a:ext>
                </a:extLst>
              </p:cNvPr>
              <p:cNvSpPr txBox="1"/>
              <p:nvPr/>
            </p:nvSpPr>
            <p:spPr>
              <a:xfrm>
                <a:off x="256508" y="2518470"/>
                <a:ext cx="28359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200" dirty="0"/>
                  <a:t>Discrétisation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1200" i="1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sz="1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sz="1200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fr-BE" sz="1200" b="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fr-BE" sz="1200" b="0" i="1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BE" sz="1200" dirty="0"/>
                  <a:t> cst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200" dirty="0"/>
                  <a:t>Pas de pénalisation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200" noProof="0" dirty="0" err="1"/>
                  <a:t>Altimé</a:t>
                </a:r>
                <a:r>
                  <a:rPr lang="fr-BE" sz="1200" dirty="0"/>
                  <a:t>trie interpolée du </a:t>
                </a:r>
                <a:r>
                  <a:rPr lang="fr-BE" sz="1200" dirty="0" err="1"/>
                  <a:t>silesa</a:t>
                </a:r>
                <a:r>
                  <a:rPr lang="fr-BE" sz="1200" dirty="0"/>
                  <a:t> ring</a:t>
                </a:r>
                <a:endParaRPr lang="fr-BE" sz="1200" noProof="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AEB7A3-A6D5-4F03-04E8-EF9693CE8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08" y="2518470"/>
                <a:ext cx="2835966" cy="646331"/>
              </a:xfrm>
              <a:prstGeom prst="rect">
                <a:avLst/>
              </a:prstGeom>
              <a:blipFill>
                <a:blip r:embed="rId2"/>
                <a:stretch>
                  <a:fillRect t="-943" b="-5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E072DB5-E8E0-C07D-D023-7C2D6D6BF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69" y="689601"/>
            <a:ext cx="2296444" cy="17954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A553E17-C33C-7254-DB19-0428EF7F8EE3}"/>
              </a:ext>
            </a:extLst>
          </p:cNvPr>
          <p:cNvSpPr txBox="1"/>
          <p:nvPr/>
        </p:nvSpPr>
        <p:spPr>
          <a:xfrm>
            <a:off x="1377826" y="1402682"/>
            <a:ext cx="571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cst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08F2BA-1B46-A56D-437F-203FDD6B98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757" y="715410"/>
            <a:ext cx="2808428" cy="1895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E26D5E-D017-6DF8-9466-4E3B41994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934" y="2610678"/>
            <a:ext cx="2767251" cy="21377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C5F7A5-E6D8-6718-A92F-2F6D60528A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619" y="4714910"/>
            <a:ext cx="2683566" cy="194739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637BC6E-E259-C5B1-2C42-B9C99933D0A0}"/>
              </a:ext>
            </a:extLst>
          </p:cNvPr>
          <p:cNvSpPr/>
          <p:nvPr/>
        </p:nvSpPr>
        <p:spPr>
          <a:xfrm>
            <a:off x="6254115" y="849630"/>
            <a:ext cx="765810" cy="55137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D8A5B-7B6A-91D2-7A1F-2AFE6A3C5F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355" y="3679560"/>
            <a:ext cx="3300155" cy="16322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D3EB68-038A-6676-0A04-D1BEF8D0F034}"/>
              </a:ext>
            </a:extLst>
          </p:cNvPr>
          <p:cNvSpPr/>
          <p:nvPr/>
        </p:nvSpPr>
        <p:spPr>
          <a:xfrm>
            <a:off x="2498034" y="4582388"/>
            <a:ext cx="45719" cy="2650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53529F-A819-BF68-02BA-E1DD0BBCE822}"/>
              </a:ext>
            </a:extLst>
          </p:cNvPr>
          <p:cNvSpPr txBox="1"/>
          <p:nvPr/>
        </p:nvSpPr>
        <p:spPr>
          <a:xfrm>
            <a:off x="1066392" y="5455318"/>
            <a:ext cx="2909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Start/Finish (dans </a:t>
            </a:r>
            <a:r>
              <a:rPr lang="en-GB" dirty="0" err="1"/>
              <a:t>mes</a:t>
            </a:r>
            <a:r>
              <a:rPr lang="en-GB" dirty="0"/>
              <a:t> sim)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CF33BF-96E7-94C7-E207-CBCC9FE9CBEF}"/>
              </a:ext>
            </a:extLst>
          </p:cNvPr>
          <p:cNvCxnSpPr>
            <a:stCxn id="10" idx="0"/>
          </p:cNvCxnSpPr>
          <p:nvPr/>
        </p:nvCxnSpPr>
        <p:spPr>
          <a:xfrm flipV="1">
            <a:off x="2520893" y="4930140"/>
            <a:ext cx="22860" cy="525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517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504E-1C06-21FB-C268-1A4EB340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D544-31D3-FC4F-CC62-D4D86AFC2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 err="1"/>
              <a:t>Outline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8AE045-A4F1-F12C-DBC3-C48897E1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56ED3-07D9-1336-9FF3-FC1CCF2EB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19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EE4E75-E193-F2D0-D9DB-25FFAFFF8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9" y="1851545"/>
            <a:ext cx="7552026" cy="3816482"/>
          </a:xfrm>
        </p:spPr>
        <p:txBody>
          <a:bodyPr>
            <a:normAutofit/>
          </a:bodyPr>
          <a:lstStyle/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Pourquoi ?</a:t>
            </a:r>
          </a:p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How it works ?</a:t>
            </a:r>
            <a:r>
              <a:rPr lang="en-GB" sz="2800" dirty="0" err="1">
                <a:solidFill>
                  <a:schemeClr val="bg2">
                    <a:lumMod val="75000"/>
                  </a:schemeClr>
                </a:solidFill>
              </a:rPr>
              <a:t>Calculateur</a:t>
            </a: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 de consommation </a:t>
            </a: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Résultats </a:t>
            </a:r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rendement mot. non cst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(07/10/26)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Résultats rendement mot. cst (07/10/26) 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/>
              <a:t>Calcul de </a:t>
            </a:r>
            <a:r>
              <a:rPr lang="fr-BE" sz="2800" noProof="0" dirty="0" err="1"/>
              <a:t>sensitivities</a:t>
            </a:r>
            <a:endParaRPr lang="fr-BE" sz="2800" noProof="0" dirty="0"/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Mass vs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SCx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tradeoff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Conclusions : directions de développement</a:t>
            </a:r>
          </a:p>
          <a:p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948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45D0-5C77-4718-57B9-D1186E65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208A-B0A0-21E8-9F26-4B536EFC6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4904" cy="681036"/>
          </a:xfrm>
        </p:spPr>
        <p:txBody>
          <a:bodyPr/>
          <a:lstStyle/>
          <a:p>
            <a:r>
              <a:rPr lang="fr-BE" noProof="0" dirty="0" err="1"/>
              <a:t>Sensitivities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4F48B-9375-611F-3F44-2495AC25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FD7A1-71F5-E256-A15F-9D3BC08B8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20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ED31A-AD99-EF2F-E3AF-E19840603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12" y="1702905"/>
            <a:ext cx="6309373" cy="35509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01AFFD-3E4F-43FA-7382-A0A885F3E3CF}"/>
              </a:ext>
            </a:extLst>
          </p:cNvPr>
          <p:cNvSpPr txBox="1"/>
          <p:nvPr/>
        </p:nvSpPr>
        <p:spPr>
          <a:xfrm>
            <a:off x="956048" y="803485"/>
            <a:ext cx="7226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noProof="0" dirty="0"/>
              <a:t>Variation de masse, </a:t>
            </a:r>
            <a:r>
              <a:rPr lang="fr-BE" noProof="0" dirty="0" err="1"/>
              <a:t>SCx</a:t>
            </a:r>
            <a:r>
              <a:rPr lang="fr-BE" noProof="0" dirty="0"/>
              <a:t>, </a:t>
            </a:r>
            <a:r>
              <a:rPr lang="fr-BE" noProof="0" dirty="0" err="1"/>
              <a:t>crr</a:t>
            </a:r>
            <a:r>
              <a:rPr lang="fr-BE" noProof="0" dirty="0"/>
              <a:t> de +- 10%, récolte des résultats (km/kWh)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1F5ACA-43BF-CC74-8C27-63B94D4C7922}"/>
              </a:ext>
            </a:extLst>
          </p:cNvPr>
          <p:cNvCxnSpPr>
            <a:cxnSpLocks/>
          </p:cNvCxnSpPr>
          <p:nvPr/>
        </p:nvCxnSpPr>
        <p:spPr>
          <a:xfrm>
            <a:off x="4569217" y="1278835"/>
            <a:ext cx="0" cy="318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12DEB6-3883-EE95-88B0-73B754E6475B}"/>
              </a:ext>
            </a:extLst>
          </p:cNvPr>
          <p:cNvSpPr txBox="1"/>
          <p:nvPr/>
        </p:nvSpPr>
        <p:spPr>
          <a:xfrm>
            <a:off x="903431" y="5543620"/>
            <a:ext cx="7337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 err="1"/>
              <a:t>Infos</a:t>
            </a:r>
            <a:r>
              <a:rPr lang="en-GB" dirty="0"/>
              <a:t> précieuses pour </a:t>
            </a:r>
            <a:r>
              <a:rPr lang="en-GB" dirty="0" err="1"/>
              <a:t>définir</a:t>
            </a:r>
            <a:r>
              <a:rPr lang="en-GB" dirty="0"/>
              <a:t> “sur </a:t>
            </a:r>
            <a:r>
              <a:rPr lang="en-GB" b="1" dirty="0"/>
              <a:t>QUOI</a:t>
            </a:r>
            <a:r>
              <a:rPr lang="en-GB" dirty="0"/>
              <a:t> </a:t>
            </a:r>
            <a:r>
              <a:rPr lang="en-GB" dirty="0" err="1"/>
              <a:t>concentrer</a:t>
            </a:r>
            <a:r>
              <a:rPr lang="en-GB" dirty="0"/>
              <a:t> le </a:t>
            </a:r>
            <a:r>
              <a:rPr lang="en-GB" dirty="0" err="1"/>
              <a:t>développement</a:t>
            </a:r>
            <a:r>
              <a:rPr lang="en-GB" dirty="0"/>
              <a:t>” </a:t>
            </a:r>
          </a:p>
          <a:p>
            <a:pPr algn="ctr"/>
            <a:r>
              <a:rPr lang="en-GB" dirty="0"/>
              <a:t>(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dvpmt</a:t>
            </a:r>
            <a:r>
              <a:rPr lang="en-GB" dirty="0"/>
              <a:t> possible)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460CCA-A180-D309-F575-C9A6E2AAD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13" y="1653536"/>
            <a:ext cx="6309373" cy="35509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2BF2F6-30E3-320A-81B7-D96A45F67694}"/>
              </a:ext>
            </a:extLst>
          </p:cNvPr>
          <p:cNvSpPr txBox="1"/>
          <p:nvPr/>
        </p:nvSpPr>
        <p:spPr>
          <a:xfrm>
            <a:off x="-1" y="1413116"/>
            <a:ext cx="2140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(Silesia ring altimetry)</a:t>
            </a:r>
          </a:p>
        </p:txBody>
      </p:sp>
    </p:spTree>
    <p:extLst>
      <p:ext uri="{BB962C8B-B14F-4D97-AF65-F5344CB8AC3E}">
        <p14:creationId xmlns:p14="http://schemas.microsoft.com/office/powerpoint/2010/main" val="430656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1F907-0C1E-BF08-45DB-C08D815D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A7C7-11F9-58A9-5901-D0957B4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 err="1"/>
              <a:t>Outline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8BB3C6-8B44-50D0-BF76-E5232BA8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51A85-9D34-E9D0-38ED-ED7AD0073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21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83550F-F899-CBDF-5213-F67B394BA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9" y="1851545"/>
            <a:ext cx="7552026" cy="3816482"/>
          </a:xfrm>
        </p:spPr>
        <p:txBody>
          <a:bodyPr>
            <a:normAutofit/>
          </a:bodyPr>
          <a:lstStyle/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Pourquoi ?</a:t>
            </a:r>
          </a:p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How it works ?</a:t>
            </a:r>
            <a:r>
              <a:rPr lang="en-GB" sz="2800" dirty="0" err="1">
                <a:solidFill>
                  <a:schemeClr val="bg2">
                    <a:lumMod val="75000"/>
                  </a:schemeClr>
                </a:solidFill>
              </a:rPr>
              <a:t>Calculateur</a:t>
            </a: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 de consommation </a:t>
            </a: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Résultats </a:t>
            </a:r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rendement mot. non cst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(07/10/26)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Résultats rendement mot. cst (07/10/26) 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Calcul de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sensitivities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/>
              <a:t>Mass vs </a:t>
            </a:r>
            <a:r>
              <a:rPr lang="fr-BE" sz="2800" noProof="0" dirty="0" err="1"/>
              <a:t>SCx</a:t>
            </a:r>
            <a:r>
              <a:rPr lang="fr-BE" sz="2800" noProof="0" dirty="0"/>
              <a:t> </a:t>
            </a:r>
            <a:r>
              <a:rPr lang="fr-BE" sz="2800" noProof="0" dirty="0" err="1"/>
              <a:t>tradeoff</a:t>
            </a:r>
            <a:r>
              <a:rPr lang="fr-BE" sz="2800" noProof="0" dirty="0"/>
              <a:t>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Conclusions : directions de développement</a:t>
            </a:r>
          </a:p>
          <a:p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695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0046-421A-0901-1945-B791DDFB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DADA-116D-932A-BC32-CE814DEB2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4904" cy="68103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BE" noProof="0" dirty="0"/>
              <a:t>Mass vs </a:t>
            </a:r>
            <a:r>
              <a:rPr lang="fr-BE" noProof="0" dirty="0" err="1"/>
              <a:t>SCx</a:t>
            </a:r>
            <a:r>
              <a:rPr lang="fr-BE" noProof="0" dirty="0"/>
              <a:t> </a:t>
            </a:r>
            <a:r>
              <a:rPr lang="fr-BE" noProof="0" dirty="0" err="1"/>
              <a:t>tradeoff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749D1-F00A-D491-8386-99EF47B8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C36BE-B578-DE19-A6BE-C5990D63A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22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45A7EA-B7FC-4A66-DD17-6B73692E1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49" y="1778902"/>
            <a:ext cx="5557302" cy="4277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B09E9A-8B6B-945E-65C3-D1412C98FA4B}"/>
              </a:ext>
            </a:extLst>
          </p:cNvPr>
          <p:cNvSpPr txBox="1"/>
          <p:nvPr/>
        </p:nvSpPr>
        <p:spPr>
          <a:xfrm>
            <a:off x="1861349" y="801338"/>
            <a:ext cx="5795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« Le poids additionnel justifie cette réduction de </a:t>
            </a:r>
            <a:r>
              <a:rPr lang="fr-BE" dirty="0" err="1"/>
              <a:t>SCx</a:t>
            </a:r>
            <a:r>
              <a:rPr lang="fr-BE" dirty="0"/>
              <a:t> ?»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1E0DFA-3873-F370-6945-D3BC88E71E2E}"/>
              </a:ext>
            </a:extLst>
          </p:cNvPr>
          <p:cNvSpPr/>
          <p:nvPr/>
        </p:nvSpPr>
        <p:spPr>
          <a:xfrm>
            <a:off x="4550608" y="4788931"/>
            <a:ext cx="119270" cy="12589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B8C7B8B-AC5B-692D-C4DA-5E11F470FCA7}"/>
              </a:ext>
            </a:extLst>
          </p:cNvPr>
          <p:cNvSpPr/>
          <p:nvPr/>
        </p:nvSpPr>
        <p:spPr>
          <a:xfrm>
            <a:off x="5825737" y="5168347"/>
            <a:ext cx="119270" cy="12589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B2471B-A981-CE7F-495C-EFE6ABC16570}"/>
              </a:ext>
            </a:extLst>
          </p:cNvPr>
          <p:cNvSpPr txBox="1"/>
          <p:nvPr/>
        </p:nvSpPr>
        <p:spPr>
          <a:xfrm>
            <a:off x="3958225" y="4628321"/>
            <a:ext cx="61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DDF0A-DB6A-001A-D4AA-E548A861F758}"/>
              </a:ext>
            </a:extLst>
          </p:cNvPr>
          <p:cNvSpPr txBox="1"/>
          <p:nvPr/>
        </p:nvSpPr>
        <p:spPr>
          <a:xfrm>
            <a:off x="5532783" y="4750903"/>
            <a:ext cx="105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 OK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E3A3CC-AA7E-FB6B-C7F7-37CFF0FB28B3}"/>
                  </a:ext>
                </a:extLst>
              </p:cNvPr>
              <p:cNvSpPr txBox="1"/>
              <p:nvPr/>
            </p:nvSpPr>
            <p:spPr>
              <a:xfrm>
                <a:off x="2298266" y="1307187"/>
                <a:ext cx="479112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𝑐𝑜𝑞𝑢𝑒</m:t>
                        </m:r>
                      </m:sub>
                    </m:sSub>
                    <m:r>
                      <a:rPr lang="fr-BE" b="0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𝑆𝑢𝑟</m:t>
                    </m:r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𝑐𝑜𝑞𝑢𝑒</m:t>
                        </m:r>
                      </m:sub>
                    </m:sSub>
                  </m:oMath>
                </a14:m>
                <a:r>
                  <a:rPr lang="en-GB" dirty="0"/>
                  <a:t>	 </a:t>
                </a:r>
                <a:r>
                  <a:rPr lang="en-GB" sz="1400" dirty="0"/>
                  <a:t>(</a:t>
                </a:r>
                <a:r>
                  <a:rPr lang="en-GB" sz="1400" dirty="0" err="1"/>
                  <a:t>si</a:t>
                </a:r>
                <a:r>
                  <a:rPr lang="en-GB" sz="1400" dirty="0"/>
                  <a:t> </a:t>
                </a:r>
                <a:r>
                  <a:rPr lang="en-GB" sz="1400" dirty="0" err="1"/>
                  <a:t>matériau</a:t>
                </a:r>
                <a:r>
                  <a:rPr lang="en-GB" sz="1400" dirty="0"/>
                  <a:t> &amp; </a:t>
                </a:r>
                <a:r>
                  <a:rPr lang="en-GB" sz="1400" dirty="0" err="1"/>
                  <a:t>épaisseur</a:t>
                </a:r>
                <a:r>
                  <a:rPr lang="en-GB" sz="1400" dirty="0"/>
                  <a:t> </a:t>
                </a:r>
                <a:r>
                  <a:rPr lang="en-GB" sz="1400" dirty="0" err="1"/>
                  <a:t>cst</a:t>
                </a:r>
                <a:r>
                  <a:rPr lang="en-GB" sz="1400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E3A3CC-AA7E-FB6B-C7F7-37CFF0FB2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266" y="1307187"/>
                <a:ext cx="4791120" cy="390748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774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3406-2E77-1420-3679-E741478F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D12B-7502-42AE-8AD2-12D2B840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 err="1"/>
              <a:t>Outline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D7DDE-3F05-3980-CA28-5FB6669C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066D7-5171-348E-16F8-B1B9CCBD9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23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E2AD9C-D2D5-FD1C-0937-03605DF6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9" y="1851545"/>
            <a:ext cx="7552026" cy="3816482"/>
          </a:xfrm>
        </p:spPr>
        <p:txBody>
          <a:bodyPr>
            <a:normAutofit/>
          </a:bodyPr>
          <a:lstStyle/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Pourquoi ?</a:t>
            </a:r>
          </a:p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How it works ?</a:t>
            </a:r>
            <a:r>
              <a:rPr lang="en-GB" sz="2800" dirty="0" err="1">
                <a:solidFill>
                  <a:schemeClr val="bg2">
                    <a:lumMod val="75000"/>
                  </a:schemeClr>
                </a:solidFill>
              </a:rPr>
              <a:t>Calculateur</a:t>
            </a: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 de consommation </a:t>
            </a: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Résultats </a:t>
            </a:r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rendement mot. non cst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(07/10/26)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Résultats rendement mot. cst (07/10/26) 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Calcul de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sensitivities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Mass vs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SCx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tradeoff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fr-BE" sz="2800" dirty="0"/>
              <a:t>Conclusions : directions de développement</a:t>
            </a:r>
          </a:p>
          <a:p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119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C3A8-E37E-D9C8-CFE3-E4377897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/>
              <a:t>Directions de développement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43D7A-BE85-69AD-4D76-6993EE6F8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7F6BC-8F81-F618-225F-68CAB89EA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24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ED66925-F7BE-3B2A-C457-4F5924D5F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174" y="1613005"/>
                <a:ext cx="7730929" cy="4138437"/>
              </a:xfrm>
            </p:spPr>
            <p:txBody>
              <a:bodyPr>
                <a:normAutofit/>
              </a:bodyPr>
              <a:lstStyle/>
              <a:p>
                <a:r>
                  <a:rPr lang="fr-BE" noProof="0" dirty="0"/>
                  <a:t> </a:t>
                </a:r>
                <a:r>
                  <a:rPr lang="fr-BE" b="1" noProof="0" dirty="0"/>
                  <a:t>Prioriser réduction de la masse &gt; </a:t>
                </a:r>
                <a:r>
                  <a:rPr lang="fr-BE" noProof="0" dirty="0"/>
                  <a:t>réduction </a:t>
                </a:r>
                <a:r>
                  <a:rPr lang="fr-BE" noProof="0" dirty="0" err="1"/>
                  <a:t>SCx</a:t>
                </a:r>
                <a:endParaRPr lang="fr-BE" noProof="0" dirty="0"/>
              </a:p>
              <a:p>
                <a:r>
                  <a:rPr lang="fr-BE" noProof="0" dirty="0"/>
                  <a:t> Sélection du </a:t>
                </a:r>
                <a:r>
                  <a:rPr lang="fr-BE" noProof="0" dirty="0" err="1"/>
                  <a:t>gear</a:t>
                </a:r>
                <a:r>
                  <a:rPr lang="fr-BE" noProof="0" dirty="0"/>
                  <a:t> </a:t>
                </a:r>
                <a:r>
                  <a:rPr lang="fr-BE" dirty="0"/>
                  <a:t>ratio : </a:t>
                </a:r>
              </a:p>
              <a:p>
                <a:pPr lvl="1"/>
                <a:r>
                  <a:rPr lang="fr-BE" noProof="0" dirty="0"/>
                  <a:t>En 1e approche, on veut fonctionner dans la plage de η moteur optimale à une vitesse ≃ 7m/s</a:t>
                </a:r>
                <a:r>
                  <a:rPr lang="fr-BE" dirty="0"/>
                  <a:t> (encore faut il connaitre la </a:t>
                </a:r>
                <a:r>
                  <a:rPr lang="fr-BE" dirty="0" err="1"/>
                  <a:t>map</a:t>
                </a:r>
                <a:r>
                  <a:rPr lang="fr-BE" dirty="0"/>
                  <a:t> moteur…) </a:t>
                </a:r>
                <a:endParaRPr lang="fr-BE" noProof="0" dirty="0"/>
              </a:p>
              <a:p>
                <a:pPr lvl="1"/>
                <a:r>
                  <a:rPr lang="fr-BE" noProof="0" dirty="0"/>
                  <a:t>Ensuite, si l’optimiseur est fiable, tester plusieurs </a:t>
                </a:r>
                <a:r>
                  <a:rPr lang="fr-BE" noProof="0" dirty="0" err="1"/>
                  <a:t>gear</a:t>
                </a:r>
                <a:r>
                  <a:rPr lang="fr-BE" noProof="0" dirty="0"/>
                  <a:t> ratios</a:t>
                </a:r>
              </a:p>
              <a:p>
                <a:r>
                  <a:rPr lang="fr-BE" noProof="0" dirty="0"/>
                  <a:t> Effectuer des </a:t>
                </a:r>
                <a:r>
                  <a:rPr lang="fr-BE" b="1" noProof="0" dirty="0"/>
                  <a:t>test physiques </a:t>
                </a:r>
                <a:r>
                  <a:rPr lang="fr-BE" noProof="0" dirty="0"/>
                  <a:t>pour </a:t>
                </a:r>
                <a:r>
                  <a:rPr lang="fr-BE" b="1" noProof="0" dirty="0"/>
                  <a:t>quantifier</a:t>
                </a:r>
                <a:r>
                  <a:rPr lang="fr-BE" noProof="0" dirty="0"/>
                  <a:t> : </a:t>
                </a:r>
                <a:r>
                  <a:rPr lang="fr-BE" noProof="0" dirty="0" err="1"/>
                  <a:t>coast</a:t>
                </a:r>
                <a:r>
                  <a:rPr lang="fr-BE" noProof="0" dirty="0"/>
                  <a:t> down test,…</a:t>
                </a:r>
              </a:p>
              <a:p>
                <a:pPr lvl="1"/>
                <a:r>
                  <a:rPr lang="fr-BE" dirty="0"/>
                  <a:t>Il y a p-ê des pertes par frottement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fr-BE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BE" i="1" smtClean="0">
                        <a:latin typeface="Cambria Math" panose="02040503050406030204" pitchFamily="18" charset="0"/>
                      </a:rPr>
                      <m:t>ou</m:t>
                    </m:r>
                    <m:r>
                      <a:rPr lang="fr-BE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B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BE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fr-BE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BE" noProof="0" dirty="0"/>
                  <a:t> =&gt; ajouter dans modèle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ED66925-F7BE-3B2A-C457-4F5924D5F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174" y="1613005"/>
                <a:ext cx="7730929" cy="4138437"/>
              </a:xfrm>
              <a:blipFill>
                <a:blip r:embed="rId2"/>
                <a:stretch>
                  <a:fillRect l="-1183" t="-1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1864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BD5D-15DA-2F4F-E19A-0836B90E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76EF-23E6-A943-4F45-A70A4A09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noProof="0" dirty="0" err="1"/>
              <a:t>Outline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32483-E83E-33DB-7493-7E4922EF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6C37F-6572-F12D-AF5A-069682DE8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25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99C65C-633B-1835-5AEC-F912D3B04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9" y="1851544"/>
            <a:ext cx="7552026" cy="4337221"/>
          </a:xfrm>
        </p:spPr>
        <p:txBody>
          <a:bodyPr>
            <a:normAutofit/>
          </a:bodyPr>
          <a:lstStyle/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Pourquoi ?</a:t>
            </a:r>
          </a:p>
          <a:p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How it works ?</a:t>
            </a:r>
            <a:r>
              <a:rPr lang="en-GB" sz="2800" dirty="0" err="1">
                <a:solidFill>
                  <a:schemeClr val="bg2">
                    <a:lumMod val="75000"/>
                  </a:schemeClr>
                </a:solidFill>
              </a:rPr>
              <a:t>Calculateur</a:t>
            </a: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 de consommation </a:t>
            </a: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Résultats </a:t>
            </a:r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rendement mot. non cst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(07/10/26)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Résultats rendement mot. cst (07/10/26) 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Calcul de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sensitivities</a:t>
            </a:r>
            <a:endParaRPr lang="fr-BE" sz="2800" noProof="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Mass vs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SCx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fr-BE" sz="2800" noProof="0" dirty="0" err="1">
                <a:solidFill>
                  <a:schemeClr val="bg2">
                    <a:lumMod val="75000"/>
                  </a:schemeClr>
                </a:solidFill>
              </a:rPr>
              <a:t>tradeoff</a:t>
            </a:r>
            <a:r>
              <a:rPr lang="fr-BE" sz="2800" noProof="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fr-BE" sz="2800" dirty="0">
                <a:solidFill>
                  <a:schemeClr val="bg2">
                    <a:lumMod val="75000"/>
                  </a:schemeClr>
                </a:solidFill>
              </a:rPr>
              <a:t>Conclusions : directions de développement</a:t>
            </a:r>
          </a:p>
          <a:p>
            <a:r>
              <a:rPr lang="fr-BE" sz="2800" noProof="0" dirty="0"/>
              <a:t>Améliorations du modèle possibles</a:t>
            </a:r>
          </a:p>
        </p:txBody>
      </p:sp>
    </p:spTree>
    <p:extLst>
      <p:ext uri="{BB962C8B-B14F-4D97-AF65-F5344CB8AC3E}">
        <p14:creationId xmlns:p14="http://schemas.microsoft.com/office/powerpoint/2010/main" val="3937026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499B-85ED-26FA-CE1A-34ABC9E2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Améliorations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423B3-6A02-EFA6-60D3-44B9D604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914BE-AEB7-BDF0-D37D-86C8EDF92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26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E44918-A344-E440-F9B3-AEF75B038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47" y="1063040"/>
            <a:ext cx="7999413" cy="5337759"/>
          </a:xfrm>
        </p:spPr>
        <p:txBody>
          <a:bodyPr>
            <a:normAutofit/>
          </a:bodyPr>
          <a:lstStyle/>
          <a:p>
            <a:r>
              <a:rPr lang="en-GB" sz="2200" dirty="0"/>
              <a:t> </a:t>
            </a:r>
            <a:r>
              <a:rPr lang="en-GB" sz="2200" dirty="0" err="1"/>
              <a:t>Trouver</a:t>
            </a:r>
            <a:r>
              <a:rPr lang="en-GB" sz="2200" dirty="0"/>
              <a:t> un moyen de se </a:t>
            </a:r>
            <a:r>
              <a:rPr lang="en-GB" sz="2200" dirty="0" err="1"/>
              <a:t>défaire</a:t>
            </a:r>
            <a:r>
              <a:rPr lang="en-GB" sz="2200" dirty="0"/>
              <a:t> du </a:t>
            </a:r>
            <a:r>
              <a:rPr lang="en-GB" sz="2200" dirty="0" err="1"/>
              <a:t>problème</a:t>
            </a:r>
            <a:r>
              <a:rPr lang="en-GB" sz="2200" dirty="0"/>
              <a:t> de jitter (algo </a:t>
            </a:r>
            <a:r>
              <a:rPr lang="en-GB" sz="2200" dirty="0" err="1"/>
              <a:t>génétique</a:t>
            </a:r>
            <a:r>
              <a:rPr lang="en-GB" sz="2200" dirty="0"/>
              <a:t> ? Changer la formulation : variable </a:t>
            </a:r>
            <a:r>
              <a:rPr lang="en-GB" sz="2200" dirty="0" err="1"/>
              <a:t>d’optimisation</a:t>
            </a:r>
            <a:r>
              <a:rPr lang="en-GB" sz="2200" dirty="0"/>
              <a:t>, </a:t>
            </a:r>
            <a:r>
              <a:rPr lang="en-GB" sz="2200" dirty="0" err="1"/>
              <a:t>Intégrer</a:t>
            </a:r>
            <a:r>
              <a:rPr lang="en-GB" sz="2200" dirty="0"/>
              <a:t> postprocess dans optimize, changer le </a:t>
            </a:r>
            <a:r>
              <a:rPr lang="en-GB" sz="2200" dirty="0" err="1"/>
              <a:t>calcul</a:t>
            </a:r>
            <a:r>
              <a:rPr lang="en-GB" sz="2200" dirty="0"/>
              <a:t> de consommation </a:t>
            </a:r>
            <a:r>
              <a:rPr lang="en-GB" sz="2200" dirty="0" err="1"/>
              <a:t>en</a:t>
            </a:r>
            <a:r>
              <a:rPr lang="en-GB" sz="2200" dirty="0"/>
              <a:t> </a:t>
            </a:r>
            <a:r>
              <a:rPr lang="en-GB" sz="2200" dirty="0" err="1"/>
              <a:t>intégrant</a:t>
            </a:r>
            <a:r>
              <a:rPr lang="en-GB" sz="2200" dirty="0"/>
              <a:t> la force direct ?</a:t>
            </a:r>
          </a:p>
          <a:p>
            <a:r>
              <a:rPr lang="en-GB" sz="2200" dirty="0" err="1"/>
              <a:t>Ajouter</a:t>
            </a:r>
            <a:r>
              <a:rPr lang="en-GB" sz="2200" dirty="0"/>
              <a:t> les </a:t>
            </a:r>
            <a:r>
              <a:rPr lang="en-GB" sz="2200" dirty="0" err="1"/>
              <a:t>virages</a:t>
            </a:r>
            <a:r>
              <a:rPr lang="en-GB" sz="2200" dirty="0"/>
              <a:t> &amp; </a:t>
            </a:r>
            <a:r>
              <a:rPr lang="en-GB" sz="2200" dirty="0" err="1"/>
              <a:t>leur</a:t>
            </a:r>
            <a:r>
              <a:rPr lang="en-GB" sz="2200" dirty="0"/>
              <a:t> gestion : </a:t>
            </a:r>
            <a:r>
              <a:rPr lang="en-GB" sz="2200" dirty="0" err="1"/>
              <a:t>freinage</a:t>
            </a:r>
            <a:r>
              <a:rPr lang="en-GB" sz="2200" dirty="0"/>
              <a:t> necessaire &amp; resistance </a:t>
            </a:r>
            <a:r>
              <a:rPr lang="en-GB" sz="2200" dirty="0" err="1"/>
              <a:t>supplémentaire</a:t>
            </a:r>
            <a:r>
              <a:rPr lang="en-GB" sz="2200" dirty="0"/>
              <a:t> </a:t>
            </a:r>
            <a:r>
              <a:rPr lang="en-GB" sz="2200" dirty="0" err="1"/>
              <a:t>en</a:t>
            </a:r>
            <a:r>
              <a:rPr lang="en-GB" sz="2200" dirty="0"/>
              <a:t> </a:t>
            </a:r>
            <a:r>
              <a:rPr lang="en-GB" sz="2200" dirty="0" err="1"/>
              <a:t>virage</a:t>
            </a:r>
            <a:r>
              <a:rPr lang="en-GB" sz="2200" dirty="0"/>
              <a:t> ? </a:t>
            </a:r>
          </a:p>
          <a:p>
            <a:pPr marL="457200" lvl="1" indent="0">
              <a:buNone/>
            </a:pPr>
            <a:r>
              <a:rPr lang="en-GB" sz="1800" dirty="0"/>
              <a:t>Si </a:t>
            </a:r>
            <a:r>
              <a:rPr lang="en-GB" sz="1800" dirty="0" err="1"/>
              <a:t>freinage</a:t>
            </a:r>
            <a:r>
              <a:rPr lang="en-GB" sz="1800" dirty="0"/>
              <a:t> necessaire : </a:t>
            </a:r>
            <a:r>
              <a:rPr lang="en-GB" sz="1800" dirty="0" err="1"/>
              <a:t>contrainte</a:t>
            </a:r>
            <a:r>
              <a:rPr lang="en-GB" sz="1800" dirty="0"/>
              <a:t> de Vitesse à </a:t>
            </a:r>
            <a:r>
              <a:rPr lang="en-GB" sz="1800" dirty="0" err="1"/>
              <a:t>ajouter</a:t>
            </a:r>
            <a:r>
              <a:rPr lang="en-GB" sz="1800" dirty="0"/>
              <a:t> dans </a:t>
            </a:r>
            <a:r>
              <a:rPr lang="en-GB" sz="1800" dirty="0" err="1"/>
              <a:t>optimiseur</a:t>
            </a:r>
            <a:r>
              <a:rPr lang="en-GB" sz="1800" dirty="0"/>
              <a:t> !</a:t>
            </a:r>
          </a:p>
          <a:p>
            <a:r>
              <a:rPr lang="en-GB" sz="2200" dirty="0"/>
              <a:t>Prise </a:t>
            </a:r>
            <a:r>
              <a:rPr lang="en-GB" sz="2200" dirty="0" err="1"/>
              <a:t>en</a:t>
            </a:r>
            <a:r>
              <a:rPr lang="en-GB" sz="2200" dirty="0"/>
              <a:t> compte d’un vent </a:t>
            </a:r>
            <a:r>
              <a:rPr lang="en-GB" sz="2200" dirty="0" err="1"/>
              <a:t>latéral</a:t>
            </a:r>
            <a:r>
              <a:rPr lang="en-GB" sz="2200" dirty="0"/>
              <a:t> (non </a:t>
            </a:r>
            <a:r>
              <a:rPr lang="en-GB" sz="2200" dirty="0" err="1"/>
              <a:t>négligeable</a:t>
            </a:r>
            <a:r>
              <a:rPr lang="en-GB" sz="2200" dirty="0"/>
              <a:t> à </a:t>
            </a:r>
            <a:r>
              <a:rPr lang="en-GB" sz="2200" dirty="0" err="1"/>
              <a:t>faible</a:t>
            </a:r>
            <a:r>
              <a:rPr lang="en-GB" sz="2200" dirty="0"/>
              <a:t> Vitesse ?)</a:t>
            </a:r>
          </a:p>
          <a:p>
            <a:pPr lvl="1"/>
            <a:r>
              <a:rPr lang="en-GB" sz="1800" dirty="0"/>
              <a:t>(=&gt; direction du vent &amp; </a:t>
            </a:r>
            <a:r>
              <a:rPr lang="en-GB" sz="1800" dirty="0" err="1"/>
              <a:t>ajouter</a:t>
            </a:r>
            <a:r>
              <a:rPr lang="en-GB" sz="1800" dirty="0"/>
              <a:t> 1 variable dans le </a:t>
            </a:r>
            <a:r>
              <a:rPr lang="en-GB" sz="1800" dirty="0" err="1"/>
              <a:t>track_param</a:t>
            </a:r>
            <a:r>
              <a:rPr lang="en-GB" sz="1800" dirty="0"/>
              <a:t>)</a:t>
            </a:r>
          </a:p>
          <a:p>
            <a:r>
              <a:rPr lang="en-GB" sz="2200" dirty="0"/>
              <a:t>Pour </a:t>
            </a:r>
            <a:r>
              <a:rPr lang="en-GB" sz="2200" dirty="0" err="1"/>
              <a:t>conduite</a:t>
            </a:r>
            <a:r>
              <a:rPr lang="en-GB" sz="2200" dirty="0"/>
              <a:t> sur 1 tour </a:t>
            </a:r>
            <a:r>
              <a:rPr lang="en-GB" sz="2200" dirty="0" err="1"/>
              <a:t>isolé</a:t>
            </a:r>
            <a:r>
              <a:rPr lang="en-GB" sz="2200" dirty="0"/>
              <a:t> : </a:t>
            </a:r>
            <a:r>
              <a:rPr lang="en-GB" sz="2200" dirty="0" err="1"/>
              <a:t>mettre</a:t>
            </a:r>
            <a:r>
              <a:rPr lang="en-GB" sz="2200" dirty="0"/>
              <a:t> la </a:t>
            </a:r>
            <a:r>
              <a:rPr lang="en-GB" sz="2200" dirty="0" err="1"/>
              <a:t>contrainte</a:t>
            </a:r>
            <a:r>
              <a:rPr lang="en-GB" sz="2200" dirty="0"/>
              <a:t> v(0)=</a:t>
            </a:r>
            <a:r>
              <a:rPr lang="en-GB" sz="2200" strike="sngStrike" dirty="0">
                <a:solidFill>
                  <a:srgbClr val="FF0000"/>
                </a:solidFill>
              </a:rPr>
              <a:t>0</a:t>
            </a:r>
            <a:r>
              <a:rPr lang="en-GB" sz="2200" dirty="0"/>
              <a:t>7 &amp; </a:t>
            </a:r>
            <a:r>
              <a:rPr lang="en-GB" sz="2200" dirty="0" err="1"/>
              <a:t>calculer</a:t>
            </a:r>
            <a:r>
              <a:rPr lang="en-GB" sz="2200" dirty="0"/>
              <a:t> 1.5-2 tours (la fin est </a:t>
            </a:r>
            <a:r>
              <a:rPr lang="en-GB" sz="2200" dirty="0" err="1"/>
              <a:t>tjs</a:t>
            </a:r>
            <a:r>
              <a:rPr lang="en-GB" sz="2200" dirty="0"/>
              <a:t> </a:t>
            </a:r>
            <a:r>
              <a:rPr lang="en-GB" sz="2200" dirty="0" err="1"/>
              <a:t>une</a:t>
            </a:r>
            <a:r>
              <a:rPr lang="en-GB" sz="2200" dirty="0"/>
              <a:t> </a:t>
            </a:r>
            <a:r>
              <a:rPr lang="en-GB" sz="2200" dirty="0" err="1"/>
              <a:t>décroissance</a:t>
            </a:r>
            <a:r>
              <a:rPr lang="en-GB" sz="2200" dirty="0"/>
              <a:t> de la </a:t>
            </a:r>
            <a:r>
              <a:rPr lang="en-GB" sz="2200" dirty="0" err="1"/>
              <a:t>vitesse</a:t>
            </a:r>
            <a:r>
              <a:rPr lang="en-GB" sz="2200" dirty="0"/>
              <a:t>)</a:t>
            </a:r>
          </a:p>
          <a:p>
            <a:r>
              <a:rPr lang="en-GB" sz="2200" dirty="0"/>
              <a:t>Idée pour validation : utiliser </a:t>
            </a:r>
            <a:r>
              <a:rPr lang="en-GB" sz="2200" dirty="0" err="1"/>
              <a:t>mesures</a:t>
            </a:r>
            <a:r>
              <a:rPr lang="en-GB" sz="2200" dirty="0"/>
              <a:t> </a:t>
            </a:r>
            <a:r>
              <a:rPr lang="en-GB" sz="2200" dirty="0" err="1"/>
              <a:t>depuis</a:t>
            </a:r>
            <a:r>
              <a:rPr lang="en-GB" sz="2200" dirty="0"/>
              <a:t> </a:t>
            </a:r>
            <a:r>
              <a:rPr lang="en-GB" sz="2200" dirty="0" err="1"/>
              <a:t>accéléro</a:t>
            </a:r>
            <a:r>
              <a:rPr lang="en-GB" sz="2200" dirty="0"/>
              <a:t> / vel. Sensor pour </a:t>
            </a:r>
            <a:r>
              <a:rPr lang="en-GB" sz="2200" dirty="0" err="1"/>
              <a:t>reconstruire</a:t>
            </a:r>
            <a:r>
              <a:rPr lang="en-GB" sz="2200" dirty="0"/>
              <a:t> un </a:t>
            </a:r>
            <a:r>
              <a:rPr lang="en-GB" sz="2200" dirty="0" err="1"/>
              <a:t>profil</a:t>
            </a:r>
            <a:r>
              <a:rPr lang="en-GB" sz="2200" dirty="0"/>
              <a:t> de Vitesse &amp; </a:t>
            </a:r>
            <a:r>
              <a:rPr lang="en-GB" sz="2200" dirty="0" err="1"/>
              <a:t>mettre</a:t>
            </a:r>
            <a:r>
              <a:rPr lang="en-GB" sz="2200" dirty="0"/>
              <a:t> dans le </a:t>
            </a:r>
            <a:r>
              <a:rPr lang="en-GB" sz="2200" dirty="0" err="1"/>
              <a:t>calcul</a:t>
            </a:r>
            <a:r>
              <a:rPr lang="en-GB" sz="2200" dirty="0"/>
              <a:t> de consommation </a:t>
            </a:r>
            <a:r>
              <a:rPr lang="en-GB" sz="2200"/>
              <a:t>pour comparer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848214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F31E-138A-70A4-A7DE-B6D237AA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907" y="1189973"/>
            <a:ext cx="5624186" cy="681036"/>
          </a:xfrm>
        </p:spPr>
        <p:txBody>
          <a:bodyPr/>
          <a:lstStyle/>
          <a:p>
            <a:pPr algn="ctr"/>
            <a:r>
              <a:rPr lang="en-GB" dirty="0"/>
              <a:t>ANNEXE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9184F-F2F7-AC54-4A61-6EB23618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9A3D-4DB7-1106-AAA4-1463B4D7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27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6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D3793A-A8F3-29C2-516F-4DB008F7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0FB9-A773-0A7B-15F9-806536A0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81036"/>
          </a:xfrm>
        </p:spPr>
        <p:txBody>
          <a:bodyPr/>
          <a:lstStyle/>
          <a:p>
            <a:r>
              <a:rPr lang="fr-BE" noProof="0" dirty="0"/>
              <a:t>Illustration (tracé plat) </a:t>
            </a:r>
            <a:r>
              <a:rPr lang="fr-BE" dirty="0"/>
              <a:t>: profils v &amp; F optimaux</a:t>
            </a:r>
            <a:endParaRPr lang="fr-BE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EF20F-6C70-93BF-D543-DAAFEDE7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fr-BE" noProof="0" smtClean="0"/>
              <a:t>14-10-26</a:t>
            </a:fld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2EE9-9DA2-C7A6-FA1C-C3A10ED0C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fr-BE" noProof="0" smtClean="0"/>
              <a:pPr/>
              <a:t>28</a:t>
            </a:fld>
            <a:r>
              <a:rPr lang="fr-BE" noProof="0" dirty="0"/>
              <a:t>/x</a:t>
            </a:r>
            <a:endParaRPr lang="fr-BE" noProof="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D3574E-E674-F5B8-F1A3-CC38E48D8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286" y="1055158"/>
            <a:ext cx="4224509" cy="34215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CC850F-7A3B-29B0-1815-9DB5777AB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32" y="961333"/>
            <a:ext cx="4438529" cy="359484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A0C97A-3491-BFD9-A363-F830D46E5ADE}"/>
              </a:ext>
            </a:extLst>
          </p:cNvPr>
          <p:cNvCxnSpPr>
            <a:cxnSpLocks/>
          </p:cNvCxnSpPr>
          <p:nvPr/>
        </p:nvCxnSpPr>
        <p:spPr>
          <a:xfrm flipV="1">
            <a:off x="1762539" y="2743201"/>
            <a:ext cx="583096" cy="1994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447DE7F-3F7A-E704-4E4F-537DBC07486F}"/>
              </a:ext>
            </a:extLst>
          </p:cNvPr>
          <p:cNvSpPr/>
          <p:nvPr/>
        </p:nvSpPr>
        <p:spPr>
          <a:xfrm>
            <a:off x="2120349" y="1311966"/>
            <a:ext cx="887896" cy="153725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EB829-B111-B17A-1179-FCA2083D0C2B}"/>
              </a:ext>
            </a:extLst>
          </p:cNvPr>
          <p:cNvSpPr txBox="1"/>
          <p:nvPr/>
        </p:nvSpPr>
        <p:spPr>
          <a:xfrm>
            <a:off x="543339" y="5003717"/>
            <a:ext cx="57979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noProof="0" dirty="0"/>
              <a:t>Dents de scie (on-off, </a:t>
            </a:r>
            <a:r>
              <a:rPr lang="fr-BE" noProof="0" dirty="0" err="1"/>
              <a:t>accel</a:t>
            </a:r>
            <a:r>
              <a:rPr lang="fr-BE" noProof="0" dirty="0"/>
              <a:t> &amp; </a:t>
            </a:r>
            <a:r>
              <a:rPr lang="fr-BE" noProof="0" dirty="0" err="1"/>
              <a:t>coast</a:t>
            </a:r>
            <a:r>
              <a:rPr lang="fr-BE" noProof="0" dirty="0"/>
              <a:t>):</a:t>
            </a:r>
          </a:p>
          <a:p>
            <a:r>
              <a:rPr lang="fr-BE" noProof="0" dirty="0"/>
              <a:t>Le moteur est sollicité dans sa plage optimale (pour η), </a:t>
            </a:r>
          </a:p>
          <a:p>
            <a:r>
              <a:rPr lang="fr-BE" noProof="0" dirty="0" err="1"/>
              <a:t>accérération</a:t>
            </a:r>
            <a:r>
              <a:rPr lang="fr-BE" noProof="0" dirty="0"/>
              <a:t>, puis </a:t>
            </a:r>
            <a:r>
              <a:rPr lang="fr-BE" noProof="0" dirty="0" err="1"/>
              <a:t>coast</a:t>
            </a:r>
            <a:r>
              <a:rPr lang="fr-BE" noProof="0" dirty="0"/>
              <a:t>,  </a:t>
            </a:r>
            <a:r>
              <a:rPr lang="fr-BE" noProof="0" dirty="0" err="1"/>
              <a:t>accel</a:t>
            </a:r>
            <a:r>
              <a:rPr lang="fr-BE" noProof="0" dirty="0"/>
              <a:t> …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D6C9C3-22DA-7B77-407F-986A6930E998}"/>
              </a:ext>
            </a:extLst>
          </p:cNvPr>
          <p:cNvSpPr/>
          <p:nvPr/>
        </p:nvSpPr>
        <p:spPr>
          <a:xfrm>
            <a:off x="6135756" y="1205948"/>
            <a:ext cx="887896" cy="306125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B3CC25-4BAB-6D40-6766-4CA62A04F447}"/>
              </a:ext>
            </a:extLst>
          </p:cNvPr>
          <p:cNvCxnSpPr>
            <a:cxnSpLocks/>
          </p:cNvCxnSpPr>
          <p:nvPr/>
        </p:nvCxnSpPr>
        <p:spPr>
          <a:xfrm flipV="1">
            <a:off x="2385392" y="4267199"/>
            <a:ext cx="3889512" cy="736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D7C21A-4ABC-F8CB-060A-AEC9DF9CA7AE}"/>
              </a:ext>
            </a:extLst>
          </p:cNvPr>
          <p:cNvSpPr txBox="1"/>
          <p:nvPr/>
        </p:nvSpPr>
        <p:spPr>
          <a:xfrm>
            <a:off x="5974589" y="4885901"/>
            <a:ext cx="3047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noProof="0" dirty="0"/>
              <a:t>Efficacité = </a:t>
            </a:r>
            <a:r>
              <a:rPr lang="fr-BE" b="1" noProof="0" dirty="0"/>
              <a:t>328.52</a:t>
            </a:r>
            <a:r>
              <a:rPr lang="fr-BE" noProof="0" dirty="0"/>
              <a:t> km/kWh</a:t>
            </a:r>
          </a:p>
        </p:txBody>
      </p:sp>
    </p:spTree>
    <p:extLst>
      <p:ext uri="{BB962C8B-B14F-4D97-AF65-F5344CB8AC3E}">
        <p14:creationId xmlns:p14="http://schemas.microsoft.com/office/powerpoint/2010/main" val="1168840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9A8F-80C3-873F-1872-68518C634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81036"/>
          </a:xfrm>
        </p:spPr>
        <p:txBody>
          <a:bodyPr/>
          <a:lstStyle/>
          <a:p>
            <a:r>
              <a:rPr lang="en-GB" dirty="0"/>
              <a:t>Simulation : </a:t>
            </a:r>
            <a:r>
              <a:rPr lang="en-GB" dirty="0" err="1"/>
              <a:t>rendement</a:t>
            </a:r>
            <a:r>
              <a:rPr lang="en-GB" dirty="0"/>
              <a:t> mot. constant &amp; sur plat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ED2A5-A32F-AA89-E5D9-117CF897A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9924-1784-4044-A2E4-3606370E1BB6}" type="datetime1">
              <a:rPr lang="en-GB" smtClean="0"/>
              <a:t>14/10/2026</a:t>
            </a:fld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D84A4-478B-AE19-FC4F-D6DDF0587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899FAB-5005-482A-88F2-FE97823A1A33}" type="slidenum">
              <a:rPr lang="en-GB" smtClean="0"/>
              <a:pPr/>
              <a:t>29</a:t>
            </a:fld>
            <a:r>
              <a:rPr lang="en-GB"/>
              <a:t>/x</a:t>
            </a:r>
            <a:endParaRPr lang="en-GB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650685-1DE3-048B-8BD3-0661FE2B6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681037"/>
            <a:ext cx="3066299" cy="23974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30DCC2-C649-6033-9283-36DC4E9D7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50" y="3526929"/>
            <a:ext cx="3498779" cy="28337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D3E467-BE73-C79E-EAC9-FC51EB998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574" y="3526929"/>
            <a:ext cx="3470800" cy="28548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D133105-996E-B203-3414-20B0A2EBE360}"/>
                  </a:ext>
                </a:extLst>
              </p:cNvPr>
              <p:cNvSpPr txBox="1"/>
              <p:nvPr/>
            </p:nvSpPr>
            <p:spPr>
              <a:xfrm>
                <a:off x="3675901" y="837130"/>
                <a:ext cx="365097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dirty="0"/>
                  <a:t>Discrétisation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1600" i="1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BE" sz="1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sz="1600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fr-BE" sz="1600" b="0" i="0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fr-BE" sz="1600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fr-BE" sz="1600" dirty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BE" sz="1600" dirty="0"/>
                  <a:t> cst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dirty="0"/>
                  <a:t>Pénalisation w=1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BE" sz="1600" b="1" noProof="0" dirty="0"/>
                  <a:t>Tracé plat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D133105-996E-B203-3414-20B0A2EBE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901" y="837130"/>
                <a:ext cx="3650974" cy="830997"/>
              </a:xfrm>
              <a:prstGeom prst="rect">
                <a:avLst/>
              </a:prstGeom>
              <a:blipFill>
                <a:blip r:embed="rId5"/>
                <a:stretch>
                  <a:fillRect l="-668" t="-2920" b="-72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76CF49E-6913-B420-97E0-55E57310B1C0}"/>
              </a:ext>
            </a:extLst>
          </p:cNvPr>
          <p:cNvSpPr txBox="1"/>
          <p:nvPr/>
        </p:nvSpPr>
        <p:spPr>
          <a:xfrm>
            <a:off x="304801" y="3090446"/>
            <a:ext cx="29827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+mj-lt"/>
              </a:rPr>
              <a:t>Efficiency: 353.29 km/kWh</a:t>
            </a:r>
            <a:endParaRPr lang="en-GB" sz="1600" b="1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7E96D1-6F4B-8007-56C6-635B7C8D8389}"/>
              </a:ext>
            </a:extLst>
          </p:cNvPr>
          <p:cNvSpPr txBox="1"/>
          <p:nvPr/>
        </p:nvSpPr>
        <p:spPr>
          <a:xfrm>
            <a:off x="3793954" y="2105085"/>
            <a:ext cx="4402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On </a:t>
            </a:r>
            <a:r>
              <a:rPr lang="en-GB" sz="1600" dirty="0" err="1"/>
              <a:t>retrouve</a:t>
            </a:r>
            <a:r>
              <a:rPr lang="en-GB" sz="1600" dirty="0"/>
              <a:t> bien accel -&gt; plateau -&gt; coast</a:t>
            </a:r>
          </a:p>
          <a:p>
            <a:pPr algn="ctr"/>
            <a:r>
              <a:rPr lang="en-GB" sz="1600" dirty="0" err="1"/>
              <a:t>Plutot</a:t>
            </a:r>
            <a:r>
              <a:rPr lang="en-GB" sz="1600" dirty="0"/>
              <a:t> bon </a:t>
            </a:r>
            <a:r>
              <a:rPr lang="en-GB" sz="1600" dirty="0" err="1"/>
              <a:t>signe</a:t>
            </a:r>
            <a:r>
              <a:rPr lang="en-GB" sz="1600" dirty="0"/>
              <a:t> </a:t>
            </a:r>
            <a:r>
              <a:rPr lang="en-GB" sz="1600" dirty="0">
                <a:sym typeface="Wingdings" panose="05000000000000000000" pitchFamily="2" charset="2"/>
              </a:rPr>
              <a:t></a:t>
            </a:r>
          </a:p>
          <a:p>
            <a:pPr algn="ctr"/>
            <a:r>
              <a:rPr lang="en-GB" sz="1600" dirty="0">
                <a:sym typeface="Wingdings" panose="05000000000000000000" pitchFamily="2" charset="2"/>
              </a:rPr>
              <a:t>Plateau pas parfait, ca montre les </a:t>
            </a:r>
            <a:r>
              <a:rPr lang="en-GB" sz="1600" dirty="0" err="1">
                <a:sym typeface="Wingdings" panose="05000000000000000000" pitchFamily="2" charset="2"/>
              </a:rPr>
              <a:t>limites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0949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">
      <a:majorFont>
        <a:latin typeface="Segoe UI Symbol"/>
        <a:ea typeface=""/>
        <a:cs typeface=""/>
      </a:majorFont>
      <a:minorFont>
        <a:latin typeface="Segoe UI Symbo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.potx" id="{17E11D8F-4542-49A9-B3C6-ED5B8DDF005F}" vid="{27996924-FA50-4E28-9B23-5C82783089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0</TotalTime>
  <Words>1778</Words>
  <Application>Microsoft Office PowerPoint</Application>
  <PresentationFormat>On-screen Show (4:3)</PresentationFormat>
  <Paragraphs>303</Paragraphs>
  <Slides>29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Arial</vt:lpstr>
      <vt:lpstr>Cambria Math</vt:lpstr>
      <vt:lpstr>Cascadia Code</vt:lpstr>
      <vt:lpstr>Segoe UI Symbol</vt:lpstr>
      <vt:lpstr>Wingdings</vt:lpstr>
      <vt:lpstr>Office Theme</vt:lpstr>
      <vt:lpstr>Shell Eco Marathon</vt:lpstr>
      <vt:lpstr>Outline</vt:lpstr>
      <vt:lpstr>Pourquoi modéliser la consommation ? </vt:lpstr>
      <vt:lpstr>Outline</vt:lpstr>
      <vt:lpstr>Calcul de consommation sur 1 tour</vt:lpstr>
      <vt:lpstr>Calcul de consommation sur 1 tour</vt:lpstr>
      <vt:lpstr>Optimiseur de conduite</vt:lpstr>
      <vt:lpstr>Side note sur la pénalisation</vt:lpstr>
      <vt:lpstr>Optimiseur de conduite : Inputs &amp; outputs</vt:lpstr>
      <vt:lpstr>Inputs</vt:lpstr>
      <vt:lpstr>Inputs : Param. circuit</vt:lpstr>
      <vt:lpstr>Outline</vt:lpstr>
      <vt:lpstr>Paramètres utilisés</vt:lpstr>
      <vt:lpstr>Motor efficiency map (assumed)</vt:lpstr>
      <vt:lpstr>Breakdown consommation (travail), utile ?</vt:lpstr>
      <vt:lpstr>Outline</vt:lpstr>
      <vt:lpstr>Simulation 2 : altimétrie Silesia ring</vt:lpstr>
      <vt:lpstr>Simulation 2 : Silesia Ring conduite optimale</vt:lpstr>
      <vt:lpstr>Outline</vt:lpstr>
      <vt:lpstr>Sensitivities</vt:lpstr>
      <vt:lpstr>Outline</vt:lpstr>
      <vt:lpstr>Mass vs SCx tradeoff</vt:lpstr>
      <vt:lpstr>Outline</vt:lpstr>
      <vt:lpstr>Directions de développement</vt:lpstr>
      <vt:lpstr>Outline</vt:lpstr>
      <vt:lpstr>Améliorations</vt:lpstr>
      <vt:lpstr>ANNEXE</vt:lpstr>
      <vt:lpstr>Illustration (tracé plat) : profils v &amp; F optimaux</vt:lpstr>
      <vt:lpstr>Simulation : rendement mot. constant &amp; sur plat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Beauve Tom</dc:creator>
  <cp:lastModifiedBy>Beauve Tom</cp:lastModifiedBy>
  <cp:revision>21</cp:revision>
  <dcterms:created xsi:type="dcterms:W3CDTF">2026-10-07T18:48:02Z</dcterms:created>
  <dcterms:modified xsi:type="dcterms:W3CDTF">2026-10-14T18:19:27Z</dcterms:modified>
</cp:coreProperties>
</file>